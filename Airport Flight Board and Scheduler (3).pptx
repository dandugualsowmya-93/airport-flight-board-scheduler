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strip at the bottom imitates the header row of an airport departure board, which is the screen this project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 is the one-paragraph summary: what the program does, what data it handles and which course concepts it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input, process and output. Every module that follows supplies one part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where the solution is planned on paper. The add-a-flight algorithm is the first design for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turns the algorithm into Java statements: variables to hold flight data, Scanner to read it, and operators to decide the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gives the program its first working board: arrays store the flights and loops display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pillars of OOP, each tied to one design decision in the flight board. DomesticFlight and InternationalFlight are the project's own example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handling is the centre card because it keeps the board running when input is wrong or a flight is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handles text, order and storage: formatting each board row, sorting flights by time, and keeping the schedule in a file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from Module 3 are replaced by collections that grow, look up and sort flights. Pick the collection by the question you need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Streams replace manual loops for reports: filter the delayed flights, sort them and print them in one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modules in order, then close with possible extensions. Thank the audience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0E8"/>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37921"/>
            <a:ext cx="10566400" cy="502920"/>
          </a:xfrm>
          <a:prstGeom prst="rect">
            <a:avLst/>
          </a:prstGeom>
          <a:noFill/>
        </p:spPr>
        <p:txBody>
          <a:bodyPr wrap="square" lIns="0" tIns="0" rIns="0" bIns="0" rtlCol="0" anchor="t"/>
          <a:lstStyle>
            <a:lvl1pPr marL="0" indent="0" algn="l">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p:nvPr>
            <p:ph type="body" idx="101"/>
          </p:nvPr>
        </p:nvSpPr>
        <p:spPr>
          <a:xfrm>
            <a:off x="812800" y="1945641"/>
            <a:ext cx="10566400" cy="4099559"/>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37921"/>
            <a:ext cx="10566400" cy="502920"/>
          </a:xfrm>
          <a:prstGeom prst="rect">
            <a:avLst/>
          </a:prstGeom>
          <a:noFill/>
        </p:spPr>
        <p:txBody>
          <a:bodyPr wrap="square" lIns="0" tIns="0" rIns="0" bIns="0" rtlCol="0" anchor="t"/>
          <a:lstStyle>
            <a:lvl1pPr marL="0" indent="0" algn="l">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p:nvPr>
            <p:ph type="body" idx="101"/>
          </p:nvPr>
        </p:nvSpPr>
        <p:spPr>
          <a:xfrm>
            <a:off x="812800" y="1945641"/>
            <a:ext cx="10566400" cy="4099559"/>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5B73B"/>
                </a:solidFill>
                <a:latin typeface="IBM Plex Sans" pitchFamily="34" charset="0"/>
                <a:ea typeface="IBM Plex Sans" pitchFamily="34" charset="-122"/>
                <a:cs typeface="IBM Plex Sans" pitchFamily="34" charset="-120"/>
              </a:rPr>
              <a:t>JAVA PROGRAMMING · MINI PROJECT</a:t>
            </a:r>
            <a:endParaRPr lang="en-US" sz="1400" dirty="0"/>
          </a:p>
        </p:txBody>
      </p:sp>
      <p:sp>
        <p:nvSpPr>
          <p:cNvPr id="3" name="Text 1"/>
          <p:cNvSpPr/>
          <p:nvPr>
            <p:ph type="title"/>
          </p:nvPr>
        </p:nvSpPr>
        <p:spPr>
          <a:xfrm>
            <a:off x="812800" y="1661160"/>
            <a:ext cx="10883392" cy="1732280"/>
          </a:xfrm>
          <a:prstGeom prst="rect">
            <a:avLst/>
          </a:prstGeom>
          <a:noFill/>
        </p:spPr>
        <p:txBody>
          <a:bodyPr wrap="square" lIns="0" tIns="0" rIns="0" bIns="0" rtlCol="0" anchor="t">
            <a:normAutofit/>
          </a:bodyPr>
          <a:lstStyle/>
          <a:p>
            <a:pPr marL="0" indent="0" algn="l">
              <a:lnSpc>
                <a:spcPts val="6720"/>
              </a:lnSpc>
              <a:buNone/>
            </a:pPr>
            <a:r>
              <a:rPr lang="en-US" sz="6400" b="1" i="0" dirty="0">
                <a:solidFill>
                  <a:srgbClr val="F3F0E8"/>
                </a:solidFill>
                <a:latin typeface="Oswald" pitchFamily="34" charset="0"/>
                <a:ea typeface="Oswald" pitchFamily="34" charset="-122"/>
                <a:cs typeface="Oswald" pitchFamily="34" charset="-120"/>
              </a:rPr>
              <a:t>AIRPORT FLIGHT BOARD AND SCHEDULER</a:t>
            </a:r>
            <a:endParaRPr lang="en-US" sz="6400" dirty="0"/>
          </a:p>
        </p:txBody>
      </p:sp>
      <p:sp>
        <p:nvSpPr>
          <p:cNvPr id="4" name="Text 2"/>
          <p:cNvSpPr/>
          <p:nvPr/>
        </p:nvSpPr>
        <p:spPr>
          <a:xfrm>
            <a:off x="812800" y="3571240"/>
            <a:ext cx="10883392" cy="345440"/>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B9C4D3"/>
                </a:solidFill>
                <a:latin typeface="IBM Plex Sans" pitchFamily="34" charset="0"/>
                <a:ea typeface="IBM Plex Sans" pitchFamily="34" charset="-122"/>
                <a:cs typeface="IBM Plex Sans" pitchFamily="34" charset="-120"/>
              </a:rPr>
              <a:t>A Java application built from the concepts of Modules 1 to 6</a:t>
            </a:r>
            <a:endParaRPr lang="en-US" sz="1800" dirty="0"/>
          </a:p>
        </p:txBody>
      </p:sp>
      <p:sp>
        <p:nvSpPr>
          <p:cNvPr id="5" name="Text 3"/>
          <p:cNvSpPr/>
          <p:nvPr/>
        </p:nvSpPr>
        <p:spPr>
          <a:xfrm>
            <a:off x="812800" y="4246880"/>
            <a:ext cx="10883392" cy="292100"/>
          </a:xfrm>
          <a:prstGeom prst="rect">
            <a:avLst/>
          </a:prstGeom>
          <a:noFill/>
        </p:spPr>
        <p:txBody>
          <a:bodyPr wrap="square" lIns="0" tIns="0" rIns="0" bIns="0" rtlCol="0" anchor="t">
            <a:normAutofit/>
          </a:bodyPr>
          <a:lstStyle/>
          <a:p>
            <a:pPr marL="0" indent="0" algn="l">
              <a:lnSpc>
                <a:spcPts val="2100"/>
              </a:lnSpc>
              <a:buNone/>
            </a:pPr>
            <a:r>
              <a:rPr lang="en-US" sz="1500" b="1" kern="0" spc="150" dirty="0">
                <a:solidFill>
                  <a:srgbClr val="F5B73B"/>
                </a:solidFill>
                <a:latin typeface="IBM Plex Sans" pitchFamily="34" charset="0"/>
                <a:ea typeface="IBM Plex Sans" pitchFamily="34" charset="-122"/>
                <a:cs typeface="IBM Plex Sans" pitchFamily="34" charset="-120"/>
              </a:rPr>
              <a:t>TEAM 19</a:t>
            </a:r>
            <a:endParaRPr lang="en-US" sz="1500" dirty="0"/>
          </a:p>
        </p:txBody>
      </p:sp>
      <p:sp>
        <p:nvSpPr>
          <p:cNvPr id="6" name="Text 4"/>
          <p:cNvSpPr/>
          <p:nvPr/>
        </p:nvSpPr>
        <p:spPr>
          <a:xfrm>
            <a:off x="812800" y="456438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F3F0E8"/>
                </a:solidFill>
                <a:latin typeface="IBM Plex Sans" pitchFamily="34" charset="0"/>
                <a:ea typeface="IBM Plex Sans" pitchFamily="34" charset="-122"/>
                <a:cs typeface="IBM Plex Sans" pitchFamily="34" charset="-120"/>
              </a:rPr>
              <a:t>Sowmya – 2620030693 · Navaneeth – 2620030694</a:t>
            </a:r>
            <a:endParaRPr lang="en-US" sz="1500" dirty="0"/>
          </a:p>
        </p:txBody>
      </p:sp>
      <p:sp>
        <p:nvSpPr>
          <p:cNvPr id="7" name="Shape 5"/>
          <p:cNvSpPr/>
          <p:nvPr/>
        </p:nvSpPr>
        <p:spPr>
          <a:xfrm>
            <a:off x="815975" y="5433695"/>
            <a:ext cx="10560050" cy="608330"/>
          </a:xfrm>
          <a:prstGeom prst="roundRect">
            <a:avLst>
              <a:gd name="adj" fmla="val 12004"/>
            </a:avLst>
          </a:prstGeom>
          <a:solidFill>
            <a:srgbClr val="16263D"/>
          </a:solidFill>
          <a:ln w="6350">
            <a:solidFill>
              <a:srgbClr val="2C4263"/>
            </a:solidFill>
            <a:prstDash val="solid"/>
          </a:ln>
        </p:spPr>
      </p:sp>
      <p:sp>
        <p:nvSpPr>
          <p:cNvPr id="8" name="Text 6"/>
          <p:cNvSpPr/>
          <p:nvPr/>
        </p:nvSpPr>
        <p:spPr>
          <a:xfrm>
            <a:off x="1071880" y="5613400"/>
            <a:ext cx="258742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F5B73B"/>
                </a:solidFill>
                <a:latin typeface="JetBrains Mono" pitchFamily="49" charset="0"/>
                <a:ea typeface="JetBrains Mono" pitchFamily="49" charset="-122"/>
                <a:cs typeface="JetBrains Mono" pitchFamily="49" charset="-120"/>
              </a:rPr>
              <a:t>FLIGHT</a:t>
            </a:r>
            <a:endParaRPr lang="en-US" sz="1400" dirty="0"/>
          </a:p>
        </p:txBody>
      </p:sp>
      <p:sp>
        <p:nvSpPr>
          <p:cNvPr id="9" name="Text 7"/>
          <p:cNvSpPr/>
          <p:nvPr/>
        </p:nvSpPr>
        <p:spPr>
          <a:xfrm>
            <a:off x="3583940" y="5613400"/>
            <a:ext cx="258742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F5B73B"/>
                </a:solidFill>
                <a:latin typeface="JetBrains Mono" pitchFamily="49" charset="0"/>
                <a:ea typeface="JetBrains Mono" pitchFamily="49" charset="-122"/>
                <a:cs typeface="JetBrains Mono" pitchFamily="49" charset="-120"/>
              </a:rPr>
              <a:t>DESTINATION</a:t>
            </a:r>
            <a:endParaRPr lang="en-US" sz="1400" dirty="0"/>
          </a:p>
        </p:txBody>
      </p:sp>
      <p:sp>
        <p:nvSpPr>
          <p:cNvPr id="10" name="Text 8"/>
          <p:cNvSpPr/>
          <p:nvPr/>
        </p:nvSpPr>
        <p:spPr>
          <a:xfrm>
            <a:off x="6096000" y="5613400"/>
            <a:ext cx="258742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F5B73B"/>
                </a:solidFill>
                <a:latin typeface="JetBrains Mono" pitchFamily="49" charset="0"/>
                <a:ea typeface="JetBrains Mono" pitchFamily="49" charset="-122"/>
                <a:cs typeface="JetBrains Mono" pitchFamily="49" charset="-120"/>
              </a:rPr>
              <a:t>DEPARTS</a:t>
            </a:r>
            <a:endParaRPr lang="en-US" sz="1400" dirty="0"/>
          </a:p>
        </p:txBody>
      </p:sp>
      <p:sp>
        <p:nvSpPr>
          <p:cNvPr id="11" name="Text 9"/>
          <p:cNvSpPr/>
          <p:nvPr/>
        </p:nvSpPr>
        <p:spPr>
          <a:xfrm>
            <a:off x="8608060" y="5613400"/>
            <a:ext cx="258742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F5B73B"/>
                </a:solidFill>
                <a:latin typeface="JetBrains Mono" pitchFamily="49" charset="0"/>
                <a:ea typeface="JetBrains Mono" pitchFamily="49" charset="-122"/>
                <a:cs typeface="JetBrains Mono" pitchFamily="49" charset="-120"/>
              </a:rPr>
              <a:t>STATUS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THE PROJECT IN BRIEF</a:t>
            </a:r>
            <a:endParaRPr lang="en-US" sz="1400" dirty="0"/>
          </a:p>
        </p:txBody>
      </p:sp>
      <p:sp>
        <p:nvSpPr>
          <p:cNvPr id="3" name="Text 1"/>
          <p:cNvSpPr/>
          <p:nvPr>
            <p:ph type="title"/>
          </p:nvPr>
        </p:nvSpPr>
        <p:spPr>
          <a:xfrm>
            <a:off x="812800" y="1137920"/>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ABSTRACT</a:t>
            </a:r>
            <a:endParaRPr lang="en-US" sz="3600" dirty="0"/>
          </a:p>
        </p:txBody>
      </p:sp>
      <p:sp>
        <p:nvSpPr>
          <p:cNvPr id="4" name="Text 2"/>
          <p:cNvSpPr/>
          <p:nvPr/>
        </p:nvSpPr>
        <p:spPr>
          <a:xfrm>
            <a:off x="812800" y="1945640"/>
            <a:ext cx="6182244" cy="2387600"/>
          </a:xfrm>
          <a:prstGeom prst="rect">
            <a:avLst/>
          </a:prstGeom>
          <a:noFill/>
        </p:spPr>
        <p:txBody>
          <a:bodyPr wrap="square" lIns="0" tIns="0" rIns="0" bIns="0" rtlCol="0" anchor="t">
            <a:normAutofit/>
          </a:bodyPr>
          <a:lstStyle/>
          <a:p>
            <a:pPr marL="0" indent="0" algn="l">
              <a:lnSpc>
                <a:spcPts val="2325"/>
              </a:lnSpc>
              <a:buNone/>
            </a:pPr>
            <a:r>
              <a:rPr lang="en-US" sz="1500" dirty="0">
                <a:solidFill>
                  <a:srgbClr val="3F4A5C"/>
                </a:solidFill>
                <a:latin typeface="IBM Plex Sans" pitchFamily="34" charset="0"/>
                <a:ea typeface="IBM Plex Sans" pitchFamily="34" charset="-122"/>
                <a:cs typeface="IBM Plex Sans" pitchFamily="34" charset="-120"/>
              </a:rPr>
              <a:t>The Airport Flight Board and Scheduler is a Java application that stores, organizes and displays flight information the way an airport departure board does. Each flight has a flight number, destination, departure time, gate and status. The program lets an operator add, update, cancel and search flights, keeps the board sorted by departure time, and saves the schedule to a file so it is still there the next time the program runs. The project applies the concepts of Modules 1 to 6 in the order they are taught.</a:t>
            </a:r>
            <a:endParaRPr lang="en-US" sz="1500" dirty="0"/>
          </a:p>
        </p:txBody>
      </p:sp>
      <p:sp>
        <p:nvSpPr>
          <p:cNvPr id="5" name="Shape 3"/>
          <p:cNvSpPr/>
          <p:nvPr/>
        </p:nvSpPr>
        <p:spPr>
          <a:xfrm>
            <a:off x="7119779" y="1945640"/>
            <a:ext cx="4259421" cy="2362200"/>
          </a:xfrm>
          <a:prstGeom prst="roundRect">
            <a:avLst>
              <a:gd name="adj" fmla="val 4301"/>
            </a:avLst>
          </a:prstGeom>
          <a:solidFill>
            <a:srgbClr val="14213D"/>
          </a:solidFill>
        </p:spPr>
      </p:sp>
      <p:sp>
        <p:nvSpPr>
          <p:cNvPr id="6" name="Text 4"/>
          <p:cNvSpPr/>
          <p:nvPr/>
        </p:nvSpPr>
        <p:spPr>
          <a:xfrm>
            <a:off x="7373779" y="2199640"/>
            <a:ext cx="3863964"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KEY CONCEPTS</a:t>
            </a:r>
            <a:endParaRPr lang="en-US" sz="1800" dirty="0"/>
          </a:p>
        </p:txBody>
      </p:sp>
      <p:sp>
        <p:nvSpPr>
          <p:cNvPr id="7" name="Text 5"/>
          <p:cNvSpPr/>
          <p:nvPr/>
        </p:nvSpPr>
        <p:spPr>
          <a:xfrm>
            <a:off x="7444899" y="2600960"/>
            <a:ext cx="3785224" cy="1454150"/>
          </a:xfrm>
          <a:prstGeom prst="rect">
            <a:avLst/>
          </a:prstGeom>
          <a:noFill/>
        </p:spPr>
        <p:txBody>
          <a:bodyPr wrap="square" lIns="0" tIns="0" rIns="0" bIns="0" rtlCol="0" anchor="t">
            <a:normAutofit/>
          </a:bodyPr>
          <a:lstStyle/>
          <a:p>
            <a:pPr marL="182880" indent="-182880" algn="l">
              <a:lnSpc>
                <a:spcPts val="2250"/>
              </a:lnSpc>
              <a:buSzPct val="100000"/>
              <a:buChar char="•"/>
            </a:pPr>
            <a:r>
              <a:rPr lang="en-US" sz="1500" dirty="0">
                <a:solidFill>
                  <a:srgbClr val="F3F0E8"/>
                </a:solidFill>
                <a:latin typeface="IBM Plex Sans" pitchFamily="34" charset="0"/>
                <a:ea typeface="IBM Plex Sans" pitchFamily="34" charset="-122"/>
                <a:cs typeface="IBM Plex Sans" pitchFamily="34" charset="-120"/>
              </a:rPr>
              <a:t>Algorithms and flowcharts</a:t>
            </a:r>
            <a:endParaRPr lang="en-US" sz="1500" dirty="0"/>
          </a:p>
          <a:p>
            <a:pPr marL="182880" indent="-182880" algn="l">
              <a:lnSpc>
                <a:spcPts val="2250"/>
              </a:lnSpc>
              <a:buSzPct val="100000"/>
              <a:buChar char="•"/>
            </a:pPr>
            <a:r>
              <a:rPr lang="en-US" sz="1500" dirty="0">
                <a:solidFill>
                  <a:srgbClr val="F3F0E8"/>
                </a:solidFill>
                <a:latin typeface="IBM Plex Sans" pitchFamily="34" charset="0"/>
                <a:ea typeface="IBM Plex Sans" pitchFamily="34" charset="-122"/>
                <a:cs typeface="IBM Plex Sans" pitchFamily="34" charset="-120"/>
              </a:rPr>
              <a:t>Classes and objects</a:t>
            </a:r>
            <a:endParaRPr lang="en-US" sz="1500" dirty="0"/>
          </a:p>
          <a:p>
            <a:pPr marL="182880" indent="-182880" algn="l">
              <a:lnSpc>
                <a:spcPts val="2250"/>
              </a:lnSpc>
              <a:buSzPct val="100000"/>
              <a:buChar char="•"/>
            </a:pPr>
            <a:r>
              <a:rPr lang="en-US" sz="1500" dirty="0">
                <a:solidFill>
                  <a:srgbClr val="F3F0E8"/>
                </a:solidFill>
                <a:latin typeface="IBM Plex Sans" pitchFamily="34" charset="0"/>
                <a:ea typeface="IBM Plex Sans" pitchFamily="34" charset="-122"/>
                <a:cs typeface="IBM Plex Sans" pitchFamily="34" charset="-120"/>
              </a:rPr>
              <a:t>Exception handling</a:t>
            </a:r>
            <a:endParaRPr lang="en-US" sz="1500" dirty="0"/>
          </a:p>
          <a:p>
            <a:pPr marL="182880" indent="-182880" algn="l">
              <a:lnSpc>
                <a:spcPts val="2250"/>
              </a:lnSpc>
              <a:buSzPct val="100000"/>
              <a:buChar char="•"/>
            </a:pPr>
            <a:r>
              <a:rPr lang="en-US" sz="1500" dirty="0">
                <a:solidFill>
                  <a:srgbClr val="F3F0E8"/>
                </a:solidFill>
                <a:latin typeface="IBM Plex Sans" pitchFamily="34" charset="0"/>
                <a:ea typeface="IBM Plex Sans" pitchFamily="34" charset="-122"/>
                <a:cs typeface="IBM Plex Sans" pitchFamily="34" charset="-120"/>
              </a:rPr>
              <a:t>Strings and file I/O</a:t>
            </a:r>
            <a:endParaRPr lang="en-US" sz="1500" dirty="0"/>
          </a:p>
          <a:p>
            <a:pPr marL="182880" indent="-182880" algn="l">
              <a:lnSpc>
                <a:spcPts val="2250"/>
              </a:lnSpc>
              <a:buSzPct val="100000"/>
              <a:buChar char="•"/>
            </a:pPr>
            <a:r>
              <a:rPr lang="en-US" sz="1500" dirty="0">
                <a:solidFill>
                  <a:srgbClr val="F3F0E8"/>
                </a:solidFill>
                <a:latin typeface="IBM Plex Sans" pitchFamily="34" charset="0"/>
                <a:ea typeface="IBM Plex Sans" pitchFamily="34" charset="-122"/>
                <a:cs typeface="IBM Plex Sans" pitchFamily="34" charset="-120"/>
              </a:rPr>
              <a:t>Collections and streams</a:t>
            </a:r>
            <a:endParaRPr lang="en-US" sz="1500" dirty="0"/>
          </a:p>
        </p:txBody>
      </p:sp>
      <p:sp>
        <p:nvSpPr>
          <p:cNvPr id="8" name="Text 6"/>
          <p:cNvSpPr/>
          <p:nvPr/>
        </p:nvSpPr>
        <p:spPr>
          <a:xfrm>
            <a:off x="812800" y="6238241"/>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9" name="Text 7"/>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5B73B"/>
                </a:solidFill>
                <a:latin typeface="IBM Plex Sans" pitchFamily="34" charset="0"/>
                <a:ea typeface="IBM Plex Sans" pitchFamily="34" charset="-122"/>
                <a:cs typeface="IBM Plex Sans" pitchFamily="34" charset="-120"/>
              </a:rPr>
              <a:t>PROBLEM STATEMENT</a:t>
            </a:r>
            <a:endParaRPr lang="en-US" sz="1400" dirty="0"/>
          </a:p>
        </p:txBody>
      </p:sp>
      <p:sp>
        <p:nvSpPr>
          <p:cNvPr id="3" name="Text 1"/>
          <p:cNvSpPr/>
          <p:nvPr>
            <p:ph type="title"/>
          </p:nvPr>
        </p:nvSpPr>
        <p:spPr>
          <a:xfrm>
            <a:off x="812800" y="1137920"/>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F3F0E8"/>
                </a:solidFill>
                <a:latin typeface="Oswald" pitchFamily="34" charset="0"/>
                <a:ea typeface="Oswald" pitchFamily="34" charset="-122"/>
                <a:cs typeface="Oswald" pitchFamily="34" charset="-120"/>
              </a:rPr>
              <a:t>UNDERSTANDING THE PROBLEM STATEMENT</a:t>
            </a:r>
            <a:endParaRPr lang="en-US" sz="3600" dirty="0"/>
          </a:p>
        </p:txBody>
      </p:sp>
      <p:sp>
        <p:nvSpPr>
          <p:cNvPr id="4" name="Text 2"/>
          <p:cNvSpPr/>
          <p:nvPr/>
        </p:nvSpPr>
        <p:spPr>
          <a:xfrm>
            <a:off x="812800" y="1894841"/>
            <a:ext cx="10883392" cy="882650"/>
          </a:xfrm>
          <a:prstGeom prst="rect">
            <a:avLst/>
          </a:prstGeom>
          <a:noFill/>
        </p:spPr>
        <p:txBody>
          <a:bodyPr wrap="square" lIns="0" tIns="0" rIns="0" bIns="0" rtlCol="0" anchor="t">
            <a:normAutofit/>
          </a:bodyPr>
          <a:lstStyle/>
          <a:p>
            <a:pPr marL="0" indent="0" algn="l">
              <a:lnSpc>
                <a:spcPts val="2250"/>
              </a:lnSpc>
              <a:buNone/>
            </a:pPr>
            <a:r>
              <a:rPr lang="en-US" sz="1500" dirty="0">
                <a:solidFill>
                  <a:srgbClr val="B9C4D3"/>
                </a:solidFill>
                <a:latin typeface="IBM Plex Sans" pitchFamily="34" charset="0"/>
                <a:ea typeface="IBM Plex Sans" pitchFamily="34" charset="-122"/>
                <a:cs typeface="IBM Plex Sans" pitchFamily="34" charset="-120"/>
              </a:rPr>
              <a:t>Airports need one clear, current view of every flight. Entering flights by hand on paper or in scattered files invites duplicates, wrong times and out-of-date status. The task is to build a program that records flights, keeps them in departure order, lets staff search and update them, and saves the schedule.</a:t>
            </a:r>
            <a:endParaRPr lang="en-US" sz="1500" dirty="0"/>
          </a:p>
        </p:txBody>
      </p:sp>
      <p:sp>
        <p:nvSpPr>
          <p:cNvPr id="5" name="Shape 3"/>
          <p:cNvSpPr/>
          <p:nvPr/>
        </p:nvSpPr>
        <p:spPr>
          <a:xfrm>
            <a:off x="815975" y="3009266"/>
            <a:ext cx="3380264" cy="2170430"/>
          </a:xfrm>
          <a:prstGeom prst="roundRect">
            <a:avLst>
              <a:gd name="adj" fmla="val 4535"/>
            </a:avLst>
          </a:prstGeom>
          <a:solidFill>
            <a:srgbClr val="16263D"/>
          </a:solidFill>
          <a:ln w="6350">
            <a:solidFill>
              <a:srgbClr val="2C4263"/>
            </a:solidFill>
            <a:prstDash val="solid"/>
          </a:ln>
        </p:spPr>
      </p:sp>
      <p:sp>
        <p:nvSpPr>
          <p:cNvPr id="6" name="Text 4"/>
          <p:cNvSpPr/>
          <p:nvPr/>
        </p:nvSpPr>
        <p:spPr>
          <a:xfrm>
            <a:off x="1071880" y="3239770"/>
            <a:ext cx="2954507"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INPUT</a:t>
            </a:r>
            <a:endParaRPr lang="en-US" sz="1800" dirty="0"/>
          </a:p>
        </p:txBody>
      </p:sp>
      <p:sp>
        <p:nvSpPr>
          <p:cNvPr id="7" name="Text 5"/>
          <p:cNvSpPr/>
          <p:nvPr/>
        </p:nvSpPr>
        <p:spPr>
          <a:xfrm>
            <a:off x="1150112" y="3615691"/>
            <a:ext cx="2868655" cy="13589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Flight number</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Destination</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Departure time</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Gate</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Status</a:t>
            </a:r>
            <a:endParaRPr lang="en-US" sz="1400" dirty="0"/>
          </a:p>
        </p:txBody>
      </p:sp>
      <p:sp>
        <p:nvSpPr>
          <p:cNvPr id="8" name="Shape 6"/>
          <p:cNvSpPr/>
          <p:nvPr/>
        </p:nvSpPr>
        <p:spPr>
          <a:xfrm>
            <a:off x="4405789" y="3009266"/>
            <a:ext cx="3380343" cy="2170430"/>
          </a:xfrm>
          <a:prstGeom prst="roundRect">
            <a:avLst>
              <a:gd name="adj" fmla="val 4535"/>
            </a:avLst>
          </a:prstGeom>
          <a:solidFill>
            <a:srgbClr val="16263D"/>
          </a:solidFill>
          <a:ln w="6350">
            <a:solidFill>
              <a:srgbClr val="2C4263"/>
            </a:solidFill>
            <a:prstDash val="solid"/>
          </a:ln>
        </p:spPr>
      </p:sp>
      <p:sp>
        <p:nvSpPr>
          <p:cNvPr id="9" name="Text 7"/>
          <p:cNvSpPr/>
          <p:nvPr/>
        </p:nvSpPr>
        <p:spPr>
          <a:xfrm>
            <a:off x="4661694" y="3239770"/>
            <a:ext cx="295458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PROCESS</a:t>
            </a:r>
            <a:endParaRPr lang="en-US" sz="1800" dirty="0"/>
          </a:p>
        </p:txBody>
      </p:sp>
      <p:sp>
        <p:nvSpPr>
          <p:cNvPr id="10" name="Text 8"/>
          <p:cNvSpPr/>
          <p:nvPr/>
        </p:nvSpPr>
        <p:spPr>
          <a:xfrm>
            <a:off x="4739926" y="3615691"/>
            <a:ext cx="2868737" cy="10922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Validate each entry</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Store the flights</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Sort by departure time</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Search and update status</a:t>
            </a:r>
            <a:endParaRPr lang="en-US" sz="1400" dirty="0"/>
          </a:p>
        </p:txBody>
      </p:sp>
      <p:sp>
        <p:nvSpPr>
          <p:cNvPr id="11" name="Shape 9"/>
          <p:cNvSpPr/>
          <p:nvPr/>
        </p:nvSpPr>
        <p:spPr>
          <a:xfrm>
            <a:off x="7995682" y="3009266"/>
            <a:ext cx="3380343" cy="2170430"/>
          </a:xfrm>
          <a:prstGeom prst="roundRect">
            <a:avLst>
              <a:gd name="adj" fmla="val 4535"/>
            </a:avLst>
          </a:prstGeom>
          <a:solidFill>
            <a:srgbClr val="16263D"/>
          </a:solidFill>
          <a:ln w="6350">
            <a:solidFill>
              <a:srgbClr val="2C4263"/>
            </a:solidFill>
            <a:prstDash val="solid"/>
          </a:ln>
        </p:spPr>
      </p:sp>
      <p:sp>
        <p:nvSpPr>
          <p:cNvPr id="12" name="Text 10"/>
          <p:cNvSpPr/>
          <p:nvPr/>
        </p:nvSpPr>
        <p:spPr>
          <a:xfrm>
            <a:off x="8251587" y="3239770"/>
            <a:ext cx="295458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OUTPUT</a:t>
            </a:r>
            <a:endParaRPr lang="en-US" sz="1800" dirty="0"/>
          </a:p>
        </p:txBody>
      </p:sp>
      <p:sp>
        <p:nvSpPr>
          <p:cNvPr id="13" name="Text 11"/>
          <p:cNvSpPr/>
          <p:nvPr/>
        </p:nvSpPr>
        <p:spPr>
          <a:xfrm>
            <a:off x="8329819" y="3615691"/>
            <a:ext cx="2868737" cy="8255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Sorted departure board</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Delayed and cancelled report</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Schedule saved to a file</a:t>
            </a:r>
            <a:endParaRPr lang="en-US" sz="1400" dirty="0"/>
          </a:p>
        </p:txBody>
      </p:sp>
      <p:sp>
        <p:nvSpPr>
          <p:cNvPr id="14" name="Text 12"/>
          <p:cNvSpPr/>
          <p:nvPr/>
        </p:nvSpPr>
        <p:spPr>
          <a:xfrm>
            <a:off x="812800" y="6238241"/>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5" name="Text 13"/>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FA0B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1</a:t>
            </a:r>
            <a:endParaRPr lang="en-US" sz="1400" dirty="0"/>
          </a:p>
        </p:txBody>
      </p:sp>
      <p:sp>
        <p:nvSpPr>
          <p:cNvPr id="3" name="Text 1"/>
          <p:cNvSpPr/>
          <p:nvPr>
            <p:ph type="title"/>
          </p:nvPr>
        </p:nvSpPr>
        <p:spPr>
          <a:xfrm>
            <a:off x="812800" y="1137920"/>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ALGORITHMS AND FLOWCHARTS</a:t>
            </a:r>
            <a:endParaRPr lang="en-US" sz="3600" dirty="0"/>
          </a:p>
        </p:txBody>
      </p:sp>
      <p:sp>
        <p:nvSpPr>
          <p:cNvPr id="4" name="Shape 2"/>
          <p:cNvSpPr/>
          <p:nvPr/>
        </p:nvSpPr>
        <p:spPr>
          <a:xfrm>
            <a:off x="815975" y="1898016"/>
            <a:ext cx="5180330" cy="2913380"/>
          </a:xfrm>
          <a:prstGeom prst="roundRect">
            <a:avLst>
              <a:gd name="adj" fmla="val 3378"/>
            </a:avLst>
          </a:prstGeom>
          <a:solidFill>
            <a:srgbClr val="FFFDF8"/>
          </a:solidFill>
          <a:ln w="6350">
            <a:solidFill>
              <a:srgbClr val="DDD8CB"/>
            </a:solidFill>
            <a:prstDash val="solid"/>
          </a:ln>
        </p:spPr>
      </p:sp>
      <p:sp>
        <p:nvSpPr>
          <p:cNvPr id="5" name="Text 3"/>
          <p:cNvSpPr/>
          <p:nvPr/>
        </p:nvSpPr>
        <p:spPr>
          <a:xfrm>
            <a:off x="1071880" y="2153920"/>
            <a:ext cx="4808576"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CONCEPTS</a:t>
            </a:r>
            <a:endParaRPr lang="en-US" sz="1800" dirty="0"/>
          </a:p>
        </p:txBody>
      </p:sp>
      <p:sp>
        <p:nvSpPr>
          <p:cNvPr id="6" name="Text 4"/>
          <p:cNvSpPr/>
          <p:nvPr/>
        </p:nvSpPr>
        <p:spPr>
          <a:xfrm>
            <a:off x="1143000" y="2555241"/>
            <a:ext cx="4729836" cy="2025650"/>
          </a:xfrm>
          <a:prstGeom prst="rect">
            <a:avLst/>
          </a:prstGeom>
          <a:noFill/>
        </p:spPr>
        <p:txBody>
          <a:bodyPr wrap="square" lIns="0" tIns="0" rIns="0" bIns="0" rtlCol="0" anchor="t">
            <a:normAutofit/>
          </a:bodyPr>
          <a:lstStyle/>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An algorithm is a list of ordered steps from Start to Stop</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Flowchart symbols: oval for start and stop, parallelogram for input and output, rectangle for a process, diamond for a decision</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A loop repeats steps while a condition such as i &lt;= n is true</a:t>
            </a:r>
            <a:endParaRPr lang="en-US" sz="1500" dirty="0"/>
          </a:p>
        </p:txBody>
      </p:sp>
      <p:sp>
        <p:nvSpPr>
          <p:cNvPr id="7" name="Shape 5"/>
          <p:cNvSpPr/>
          <p:nvPr/>
        </p:nvSpPr>
        <p:spPr>
          <a:xfrm>
            <a:off x="6202680" y="1894841"/>
            <a:ext cx="5176520" cy="2919730"/>
          </a:xfrm>
          <a:prstGeom prst="roundRect">
            <a:avLst>
              <a:gd name="adj" fmla="val 3480"/>
            </a:avLst>
          </a:prstGeom>
          <a:solidFill>
            <a:srgbClr val="14213D"/>
          </a:solidFill>
        </p:spPr>
      </p:sp>
      <p:sp>
        <p:nvSpPr>
          <p:cNvPr id="8" name="Text 6"/>
          <p:cNvSpPr/>
          <p:nvPr/>
        </p:nvSpPr>
        <p:spPr>
          <a:xfrm>
            <a:off x="6456680" y="2148841"/>
            <a:ext cx="4808576"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IN THE PROJECT: ADD A FLIGHT</a:t>
            </a:r>
            <a:endParaRPr lang="en-US" sz="1800" dirty="0"/>
          </a:p>
        </p:txBody>
      </p:sp>
      <p:sp>
        <p:nvSpPr>
          <p:cNvPr id="9" name="Text 7"/>
          <p:cNvSpPr/>
          <p:nvPr/>
        </p:nvSpPr>
        <p:spPr>
          <a:xfrm>
            <a:off x="6499542" y="2550161"/>
            <a:ext cx="4758093" cy="1739900"/>
          </a:xfrm>
          <a:prstGeom prst="rect">
            <a:avLst/>
          </a:prstGeom>
          <a:noFill/>
        </p:spPr>
        <p:txBody>
          <a:bodyPr wrap="square" lIns="0" tIns="0" rIns="0" bIns="0" rtlCol="0" anchor="t">
            <a:normAutofit/>
          </a:bodyPr>
          <a:lstStyle/>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Start</a:t>
            </a:r>
            <a:endParaRPr lang="en-US" sz="1500" dirty="0"/>
          </a:p>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Read the flight details</a:t>
            </a:r>
            <a:endParaRPr lang="en-US" sz="1500" dirty="0"/>
          </a:p>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Check whether the flight number already exists</a:t>
            </a:r>
            <a:endParaRPr lang="en-US" sz="1500" dirty="0"/>
          </a:p>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If it exists, show an error; otherwise store the flight</a:t>
            </a:r>
            <a:endParaRPr lang="en-US" sz="1500" dirty="0"/>
          </a:p>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Display the updated board</a:t>
            </a:r>
            <a:endParaRPr lang="en-US" sz="1500" dirty="0"/>
          </a:p>
          <a:p>
            <a:pPr marL="211455" indent="-211455" algn="l">
              <a:lnSpc>
                <a:spcPts val="2250"/>
              </a:lnSpc>
              <a:buSzPct val="100000"/>
              <a:buFontTx/>
              <a:buAutoNum type="arabicPeriod"/>
            </a:pPr>
            <a:r>
              <a:rPr lang="en-US" sz="1500" dirty="0">
                <a:solidFill>
                  <a:srgbClr val="F3F0E8"/>
                </a:solidFill>
                <a:latin typeface="IBM Plex Sans" pitchFamily="34" charset="0"/>
                <a:ea typeface="IBM Plex Sans" pitchFamily="34" charset="-122"/>
                <a:cs typeface="IBM Plex Sans" pitchFamily="34" charset="-120"/>
              </a:rPr>
              <a:t>Stop</a:t>
            </a:r>
            <a:endParaRPr lang="en-US" sz="1500" dirty="0"/>
          </a:p>
        </p:txBody>
      </p:sp>
      <p:sp>
        <p:nvSpPr>
          <p:cNvPr id="10" name="Text 8"/>
          <p:cNvSpPr/>
          <p:nvPr/>
        </p:nvSpPr>
        <p:spPr>
          <a:xfrm>
            <a:off x="812800" y="6238239"/>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1" name="Text 9"/>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2</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JAVA BASICS: DATA, INPUT, OPERATORS</a:t>
            </a:r>
            <a:endParaRPr lang="en-US" sz="3600" dirty="0"/>
          </a:p>
        </p:txBody>
      </p:sp>
      <p:sp>
        <p:nvSpPr>
          <p:cNvPr id="4" name="Shape 2"/>
          <p:cNvSpPr/>
          <p:nvPr/>
        </p:nvSpPr>
        <p:spPr>
          <a:xfrm>
            <a:off x="815975" y="1898014"/>
            <a:ext cx="4641850" cy="2899410"/>
          </a:xfrm>
          <a:prstGeom prst="roundRect">
            <a:avLst>
              <a:gd name="adj" fmla="val 3395"/>
            </a:avLst>
          </a:prstGeom>
          <a:solidFill>
            <a:srgbClr val="FFFDF8"/>
          </a:solidFill>
          <a:ln w="6350">
            <a:solidFill>
              <a:srgbClr val="DDD8CB"/>
            </a:solidFill>
            <a:prstDash val="solid"/>
          </a:ln>
        </p:spPr>
      </p:sp>
      <p:sp>
        <p:nvSpPr>
          <p:cNvPr id="5" name="Text 3"/>
          <p:cNvSpPr/>
          <p:nvPr/>
        </p:nvSpPr>
        <p:spPr>
          <a:xfrm>
            <a:off x="1071880" y="2153921"/>
            <a:ext cx="4253941"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CONCEPTS</a:t>
            </a:r>
            <a:endParaRPr lang="en-US" sz="1800" dirty="0"/>
          </a:p>
        </p:txBody>
      </p:sp>
      <p:sp>
        <p:nvSpPr>
          <p:cNvPr id="6" name="Text 4"/>
          <p:cNvSpPr/>
          <p:nvPr/>
        </p:nvSpPr>
        <p:spPr>
          <a:xfrm>
            <a:off x="1143000" y="2555239"/>
            <a:ext cx="4175201" cy="1168400"/>
          </a:xfrm>
          <a:prstGeom prst="rect">
            <a:avLst/>
          </a:prstGeom>
          <a:noFill/>
        </p:spPr>
        <p:txBody>
          <a:bodyPr wrap="square" lIns="0" tIns="0" rIns="0" bIns="0" rtlCol="0" anchor="t">
            <a:normAutofit/>
          </a:bodyPr>
          <a:lstStyle/>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Data types: int, long, double and String</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Scanner reads input from the user</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Operators: arithmetic, relational, logical, ternary, assignment, ++ and --</a:t>
            </a:r>
            <a:endParaRPr lang="en-US" sz="1500" dirty="0"/>
          </a:p>
        </p:txBody>
      </p:sp>
      <p:sp>
        <p:nvSpPr>
          <p:cNvPr id="7" name="Shape 5"/>
          <p:cNvSpPr/>
          <p:nvPr/>
        </p:nvSpPr>
        <p:spPr>
          <a:xfrm>
            <a:off x="5664200" y="1894839"/>
            <a:ext cx="5715000" cy="2905760"/>
          </a:xfrm>
          <a:prstGeom prst="roundRect">
            <a:avLst>
              <a:gd name="adj" fmla="val 3497"/>
            </a:avLst>
          </a:prstGeom>
          <a:solidFill>
            <a:srgbClr val="14213D"/>
          </a:solidFill>
        </p:spPr>
      </p:sp>
      <p:sp>
        <p:nvSpPr>
          <p:cNvPr id="8" name="Text 6"/>
          <p:cNvSpPr/>
          <p:nvPr/>
        </p:nvSpPr>
        <p:spPr>
          <a:xfrm>
            <a:off x="5918200" y="2148839"/>
            <a:ext cx="5363210"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IN THE PROJECT: LABEL A FLIGHT</a:t>
            </a:r>
            <a:endParaRPr lang="en-US" sz="1800" dirty="0"/>
          </a:p>
        </p:txBody>
      </p:sp>
      <p:sp>
        <p:nvSpPr>
          <p:cNvPr id="9" name="Text 7"/>
          <p:cNvSpPr/>
          <p:nvPr/>
        </p:nvSpPr>
        <p:spPr>
          <a:xfrm>
            <a:off x="5918200" y="2575561"/>
            <a:ext cx="5363210" cy="1346200"/>
          </a:xfrm>
          <a:prstGeom prst="rect">
            <a:avLst/>
          </a:prstGeom>
          <a:noFill/>
        </p:spPr>
        <p:txBody>
          <a:bodyPr wrap="square" lIns="0" tIns="0" rIns="0" bIns="0" rtlCol="0" anchor="t">
            <a:normAutofit/>
          </a:bodyPr>
          <a:lstStyle/>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Scanner s = new Scanner(System.in);</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System.out.println("enter flight no");</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String no = s.next();</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int delay = s.nextInt();</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String st = delay &gt; 0 ? "DELAYED" : "ON TIME";</a:t>
            </a:r>
            <a:endParaRPr lang="en-US" sz="1300" dirty="0"/>
          </a:p>
        </p:txBody>
      </p:sp>
      <p:sp>
        <p:nvSpPr>
          <p:cNvPr id="10" name="Text 8"/>
          <p:cNvSpPr/>
          <p:nvPr/>
        </p:nvSpPr>
        <p:spPr>
          <a:xfrm>
            <a:off x="5918200" y="4048761"/>
            <a:ext cx="5363210"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9C4D3"/>
                </a:solidFill>
                <a:latin typeface="IBM Plex Sans" pitchFamily="34" charset="0"/>
                <a:ea typeface="IBM Plex Sans" pitchFamily="34" charset="-122"/>
                <a:cs typeface="IBM Plex Sans" pitchFamily="34" charset="-120"/>
              </a:rPr>
              <a:t>Read a flight number and a delay, then set the status with the ternary operator.</a:t>
            </a:r>
            <a:endParaRPr lang="en-US" sz="1400" dirty="0"/>
          </a:p>
        </p:txBody>
      </p:sp>
      <p:sp>
        <p:nvSpPr>
          <p:cNvPr id="11" name="Text 9"/>
          <p:cNvSpPr/>
          <p:nvPr/>
        </p:nvSpPr>
        <p:spPr>
          <a:xfrm>
            <a:off x="812800" y="6238239"/>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2" name="Text 10"/>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3</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CONTROL FLOW, LOOPS AND ARRAYS</a:t>
            </a:r>
            <a:endParaRPr lang="en-US" sz="3600" dirty="0"/>
          </a:p>
        </p:txBody>
      </p:sp>
      <p:sp>
        <p:nvSpPr>
          <p:cNvPr id="4" name="Shape 2"/>
          <p:cNvSpPr/>
          <p:nvPr/>
        </p:nvSpPr>
        <p:spPr>
          <a:xfrm>
            <a:off x="815975" y="1898014"/>
            <a:ext cx="4641850" cy="2635250"/>
          </a:xfrm>
          <a:prstGeom prst="roundRect">
            <a:avLst>
              <a:gd name="adj" fmla="val 3735"/>
            </a:avLst>
          </a:prstGeom>
          <a:solidFill>
            <a:srgbClr val="FFFDF8"/>
          </a:solidFill>
          <a:ln w="6350">
            <a:solidFill>
              <a:srgbClr val="DDD8CB"/>
            </a:solidFill>
            <a:prstDash val="solid"/>
          </a:ln>
        </p:spPr>
      </p:sp>
      <p:sp>
        <p:nvSpPr>
          <p:cNvPr id="5" name="Text 3"/>
          <p:cNvSpPr/>
          <p:nvPr/>
        </p:nvSpPr>
        <p:spPr>
          <a:xfrm>
            <a:off x="1071880" y="2153921"/>
            <a:ext cx="4253941"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CONCEPTS</a:t>
            </a:r>
            <a:endParaRPr lang="en-US" sz="1800" dirty="0"/>
          </a:p>
        </p:txBody>
      </p:sp>
      <p:sp>
        <p:nvSpPr>
          <p:cNvPr id="6" name="Text 4"/>
          <p:cNvSpPr/>
          <p:nvPr/>
        </p:nvSpPr>
        <p:spPr>
          <a:xfrm>
            <a:off x="1143000" y="2555239"/>
            <a:ext cx="4175201" cy="1739900"/>
          </a:xfrm>
          <a:prstGeom prst="rect">
            <a:avLst/>
          </a:prstGeom>
          <a:noFill/>
        </p:spPr>
        <p:txBody>
          <a:bodyPr wrap="square" lIns="0" tIns="0" rIns="0" bIns="0" rtlCol="0" anchor="t">
            <a:normAutofit/>
          </a:bodyPr>
          <a:lstStyle/>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if, else-if and nested conditions choose between outcomes</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for loops repeat a task; nested loops build rows and columns</a:t>
            </a:r>
            <a:endParaRPr lang="en-US" sz="1500" dirty="0"/>
          </a:p>
          <a:p>
            <a:pPr marL="182880" indent="-182880" algn="l">
              <a:lnSpc>
                <a:spcPts val="2250"/>
              </a:lnSpc>
              <a:buSzPct val="100000"/>
              <a:buChar char="•"/>
            </a:pPr>
            <a:r>
              <a:rPr lang="en-US" sz="1500" dirty="0">
                <a:solidFill>
                  <a:srgbClr val="3F4A5C"/>
                </a:solidFill>
                <a:latin typeface="IBM Plex Sans" pitchFamily="34" charset="0"/>
                <a:ea typeface="IBM Plex Sans" pitchFamily="34" charset="-122"/>
                <a:cs typeface="IBM Plex Sans" pitchFamily="34" charset="-120"/>
              </a:rPr>
              <a:t>An array holds same-type elements, indexed from 0, filled and printed with loops</a:t>
            </a:r>
            <a:endParaRPr lang="en-US" sz="1500" dirty="0"/>
          </a:p>
        </p:txBody>
      </p:sp>
      <p:sp>
        <p:nvSpPr>
          <p:cNvPr id="7" name="Shape 5"/>
          <p:cNvSpPr/>
          <p:nvPr/>
        </p:nvSpPr>
        <p:spPr>
          <a:xfrm>
            <a:off x="5664200" y="1894839"/>
            <a:ext cx="5715000" cy="2641600"/>
          </a:xfrm>
          <a:prstGeom prst="roundRect">
            <a:avLst>
              <a:gd name="adj" fmla="val 3846"/>
            </a:avLst>
          </a:prstGeom>
          <a:solidFill>
            <a:srgbClr val="14213D"/>
          </a:solidFill>
        </p:spPr>
      </p:sp>
      <p:sp>
        <p:nvSpPr>
          <p:cNvPr id="8" name="Text 6"/>
          <p:cNvSpPr/>
          <p:nvPr/>
        </p:nvSpPr>
        <p:spPr>
          <a:xfrm>
            <a:off x="5918200" y="2148839"/>
            <a:ext cx="5363210"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IN THE PROJECT: PRINT THE BOARD</a:t>
            </a:r>
            <a:endParaRPr lang="en-US" sz="1800" dirty="0"/>
          </a:p>
        </p:txBody>
      </p:sp>
      <p:sp>
        <p:nvSpPr>
          <p:cNvPr id="9" name="Text 7"/>
          <p:cNvSpPr/>
          <p:nvPr/>
        </p:nvSpPr>
        <p:spPr>
          <a:xfrm>
            <a:off x="5918200" y="2575561"/>
            <a:ext cx="5363210" cy="1082040"/>
          </a:xfrm>
          <a:prstGeom prst="rect">
            <a:avLst/>
          </a:prstGeom>
          <a:noFill/>
        </p:spPr>
        <p:txBody>
          <a:bodyPr wrap="square" lIns="0" tIns="0" rIns="0" bIns="0" rtlCol="0" anchor="t">
            <a:normAutofit/>
          </a:bodyPr>
          <a:lstStyle/>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String[] dest = {"Delhi", "Mumbai", "Chennai"};</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for (int i = 0; i &lt; dest.length; i++) {</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    System.out.println(dest[i]);</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5918200" y="3784600"/>
            <a:ext cx="5363210"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9C4D3"/>
                </a:solidFill>
                <a:latin typeface="IBM Plex Sans" pitchFamily="34" charset="0"/>
                <a:ea typeface="IBM Plex Sans" pitchFamily="34" charset="-122"/>
                <a:cs typeface="IBM Plex Sans" pitchFamily="34" charset="-120"/>
              </a:rPr>
              <a:t>A loop walks through the array and prints one row for every flight. An if statement can mark a row as delayed.</a:t>
            </a:r>
            <a:endParaRPr lang="en-US" sz="1400" dirty="0"/>
          </a:p>
        </p:txBody>
      </p:sp>
      <p:sp>
        <p:nvSpPr>
          <p:cNvPr id="11" name="Text 9"/>
          <p:cNvSpPr/>
          <p:nvPr/>
        </p:nvSpPr>
        <p:spPr>
          <a:xfrm>
            <a:off x="812800" y="6238239"/>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2" name="Text 10"/>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4</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OBJECT-ORIENTED DESIGN</a:t>
            </a:r>
            <a:endParaRPr lang="en-US" sz="3600" dirty="0"/>
          </a:p>
        </p:txBody>
      </p:sp>
      <p:sp>
        <p:nvSpPr>
          <p:cNvPr id="4" name="Text 2"/>
          <p:cNvSpPr/>
          <p:nvPr/>
        </p:nvSpPr>
        <p:spPr>
          <a:xfrm>
            <a:off x="812800" y="1869439"/>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3F4A5C"/>
                </a:solidFill>
                <a:latin typeface="IBM Plex Sans" pitchFamily="34" charset="0"/>
                <a:ea typeface="IBM Plex Sans" pitchFamily="34" charset="-122"/>
                <a:cs typeface="IBM Plex Sans" pitchFamily="34" charset="-120"/>
              </a:rPr>
              <a:t>The Flight class is the blueprint; every flight on the board is an object created with new.</a:t>
            </a:r>
            <a:endParaRPr lang="en-US" sz="1500" dirty="0"/>
          </a:p>
        </p:txBody>
      </p:sp>
      <p:sp>
        <p:nvSpPr>
          <p:cNvPr id="5" name="Shape 3"/>
          <p:cNvSpPr/>
          <p:nvPr/>
        </p:nvSpPr>
        <p:spPr>
          <a:xfrm>
            <a:off x="815975" y="2367914"/>
            <a:ext cx="5175250" cy="1309370"/>
          </a:xfrm>
          <a:prstGeom prst="roundRect">
            <a:avLst>
              <a:gd name="adj" fmla="val 7517"/>
            </a:avLst>
          </a:prstGeom>
          <a:solidFill>
            <a:srgbClr val="FFFDF8"/>
          </a:solidFill>
          <a:ln w="6350">
            <a:solidFill>
              <a:srgbClr val="DDD8CB"/>
            </a:solidFill>
            <a:prstDash val="solid"/>
          </a:ln>
        </p:spPr>
      </p:sp>
      <p:sp>
        <p:nvSpPr>
          <p:cNvPr id="6" name="Text 4"/>
          <p:cNvSpPr/>
          <p:nvPr/>
        </p:nvSpPr>
        <p:spPr>
          <a:xfrm>
            <a:off x="1071880" y="2598421"/>
            <a:ext cx="480334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ENCAPSULATION</a:t>
            </a:r>
            <a:endParaRPr lang="en-US" sz="1800" dirty="0"/>
          </a:p>
        </p:txBody>
      </p:sp>
      <p:sp>
        <p:nvSpPr>
          <p:cNvPr id="7" name="Text 5"/>
          <p:cNvSpPr/>
          <p:nvPr/>
        </p:nvSpPr>
        <p:spPr>
          <a:xfrm>
            <a:off x="1071880" y="2948939"/>
            <a:ext cx="4803343"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Flight keeps its fields private and exposes them only through methods.</a:t>
            </a:r>
            <a:endParaRPr lang="en-US" sz="1400" dirty="0"/>
          </a:p>
        </p:txBody>
      </p:sp>
      <p:sp>
        <p:nvSpPr>
          <p:cNvPr id="8" name="Shape 6"/>
          <p:cNvSpPr/>
          <p:nvPr/>
        </p:nvSpPr>
        <p:spPr>
          <a:xfrm>
            <a:off x="6200775" y="2367914"/>
            <a:ext cx="5175250" cy="1309370"/>
          </a:xfrm>
          <a:prstGeom prst="roundRect">
            <a:avLst>
              <a:gd name="adj" fmla="val 7517"/>
            </a:avLst>
          </a:prstGeom>
          <a:solidFill>
            <a:srgbClr val="FFFDF8"/>
          </a:solidFill>
          <a:ln w="6350">
            <a:solidFill>
              <a:srgbClr val="DDD8CB"/>
            </a:solidFill>
            <a:prstDash val="solid"/>
          </a:ln>
        </p:spPr>
      </p:sp>
      <p:sp>
        <p:nvSpPr>
          <p:cNvPr id="9" name="Text 7"/>
          <p:cNvSpPr/>
          <p:nvPr/>
        </p:nvSpPr>
        <p:spPr>
          <a:xfrm>
            <a:off x="6456680" y="2598421"/>
            <a:ext cx="480334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ABSTRACTION</a:t>
            </a:r>
            <a:endParaRPr lang="en-US" sz="1800" dirty="0"/>
          </a:p>
        </p:txBody>
      </p:sp>
      <p:sp>
        <p:nvSpPr>
          <p:cNvPr id="10" name="Text 8"/>
          <p:cNvSpPr/>
          <p:nvPr/>
        </p:nvSpPr>
        <p:spPr>
          <a:xfrm>
            <a:off x="6456680" y="2948939"/>
            <a:ext cx="4803343"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Staff use addFlight() and searchFlight() without seeing how flights are stored.</a:t>
            </a:r>
            <a:endParaRPr lang="en-US" sz="1400" dirty="0"/>
          </a:p>
        </p:txBody>
      </p:sp>
      <p:sp>
        <p:nvSpPr>
          <p:cNvPr id="11" name="Shape 9"/>
          <p:cNvSpPr/>
          <p:nvPr/>
        </p:nvSpPr>
        <p:spPr>
          <a:xfrm>
            <a:off x="815975" y="3886836"/>
            <a:ext cx="5175250" cy="1309370"/>
          </a:xfrm>
          <a:prstGeom prst="roundRect">
            <a:avLst>
              <a:gd name="adj" fmla="val 7517"/>
            </a:avLst>
          </a:prstGeom>
          <a:solidFill>
            <a:srgbClr val="FFFDF8"/>
          </a:solidFill>
          <a:ln w="6350">
            <a:solidFill>
              <a:srgbClr val="DDD8CB"/>
            </a:solidFill>
            <a:prstDash val="solid"/>
          </a:ln>
        </p:spPr>
      </p:sp>
      <p:sp>
        <p:nvSpPr>
          <p:cNvPr id="12" name="Text 10"/>
          <p:cNvSpPr/>
          <p:nvPr/>
        </p:nvSpPr>
        <p:spPr>
          <a:xfrm>
            <a:off x="1071880" y="4117339"/>
            <a:ext cx="480334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INHERITANCE</a:t>
            </a:r>
            <a:endParaRPr lang="en-US" sz="1800" dirty="0"/>
          </a:p>
        </p:txBody>
      </p:sp>
      <p:sp>
        <p:nvSpPr>
          <p:cNvPr id="13" name="Text 11"/>
          <p:cNvSpPr/>
          <p:nvPr/>
        </p:nvSpPr>
        <p:spPr>
          <a:xfrm>
            <a:off x="1071880" y="4467861"/>
            <a:ext cx="4803343"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DomesticFlight and InternationalFlight extend Flight and reuse its code.</a:t>
            </a:r>
            <a:endParaRPr lang="en-US" sz="1400" dirty="0"/>
          </a:p>
        </p:txBody>
      </p:sp>
      <p:sp>
        <p:nvSpPr>
          <p:cNvPr id="14" name="Shape 12"/>
          <p:cNvSpPr/>
          <p:nvPr/>
        </p:nvSpPr>
        <p:spPr>
          <a:xfrm>
            <a:off x="6200775" y="3886836"/>
            <a:ext cx="5175250" cy="1309370"/>
          </a:xfrm>
          <a:prstGeom prst="roundRect">
            <a:avLst>
              <a:gd name="adj" fmla="val 7517"/>
            </a:avLst>
          </a:prstGeom>
          <a:solidFill>
            <a:srgbClr val="FFFDF8"/>
          </a:solidFill>
          <a:ln w="6350">
            <a:solidFill>
              <a:srgbClr val="DDD8CB"/>
            </a:solidFill>
            <a:prstDash val="solid"/>
          </a:ln>
        </p:spPr>
      </p:sp>
      <p:sp>
        <p:nvSpPr>
          <p:cNvPr id="15" name="Text 13"/>
          <p:cNvSpPr/>
          <p:nvPr/>
        </p:nvSpPr>
        <p:spPr>
          <a:xfrm>
            <a:off x="6456680" y="4117339"/>
            <a:ext cx="480334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POLYMORPHISM</a:t>
            </a:r>
            <a:endParaRPr lang="en-US" sz="1800" dirty="0"/>
          </a:p>
        </p:txBody>
      </p:sp>
      <p:sp>
        <p:nvSpPr>
          <p:cNvPr id="16" name="Text 14"/>
          <p:cNvSpPr/>
          <p:nvPr/>
        </p:nvSpPr>
        <p:spPr>
          <a:xfrm>
            <a:off x="6456680" y="4467861"/>
            <a:ext cx="4803343"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Each flight type overrides displayDetails(), so one call prints the right format.</a:t>
            </a:r>
            <a:endParaRPr lang="en-US" sz="1400" dirty="0"/>
          </a:p>
        </p:txBody>
      </p:sp>
      <p:sp>
        <p:nvSpPr>
          <p:cNvPr id="17" name="Text 15"/>
          <p:cNvSpPr/>
          <p:nvPr/>
        </p:nvSpPr>
        <p:spPr>
          <a:xfrm>
            <a:off x="812800" y="6238239"/>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8" name="Text 16"/>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4 (CONTINUED)</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STATIC MEMBERS AND EXCEPTIONS</a:t>
            </a:r>
            <a:endParaRPr lang="en-US" sz="3600" dirty="0"/>
          </a:p>
        </p:txBody>
      </p:sp>
      <p:sp>
        <p:nvSpPr>
          <p:cNvPr id="4" name="Shape 2"/>
          <p:cNvSpPr/>
          <p:nvPr/>
        </p:nvSpPr>
        <p:spPr>
          <a:xfrm>
            <a:off x="815975" y="1898014"/>
            <a:ext cx="3383677" cy="2769870"/>
          </a:xfrm>
          <a:prstGeom prst="roundRect">
            <a:avLst>
              <a:gd name="adj" fmla="val 3553"/>
            </a:avLst>
          </a:prstGeom>
          <a:solidFill>
            <a:srgbClr val="FFFDF8"/>
          </a:solidFill>
          <a:ln w="6350">
            <a:solidFill>
              <a:srgbClr val="DDD8CB"/>
            </a:solidFill>
            <a:prstDash val="solid"/>
          </a:ln>
        </p:spPr>
      </p:sp>
      <p:sp>
        <p:nvSpPr>
          <p:cNvPr id="5" name="Text 3"/>
          <p:cNvSpPr/>
          <p:nvPr/>
        </p:nvSpPr>
        <p:spPr>
          <a:xfrm>
            <a:off x="1071880" y="2153921"/>
            <a:ext cx="295802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STATIC MEMBERS</a:t>
            </a:r>
            <a:endParaRPr lang="en-US" sz="1800" dirty="0"/>
          </a:p>
        </p:txBody>
      </p:sp>
      <p:sp>
        <p:nvSpPr>
          <p:cNvPr id="6" name="Text 4"/>
          <p:cNvSpPr/>
          <p:nvPr/>
        </p:nvSpPr>
        <p:spPr>
          <a:xfrm>
            <a:off x="1150112" y="2555239"/>
            <a:ext cx="2872171" cy="16256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One shared copy per class, not one per object</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totalFlights counts every flight created</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AIRPORT_NAME is a static constant</a:t>
            </a:r>
            <a:endParaRPr lang="en-US" sz="1400" dirty="0"/>
          </a:p>
        </p:txBody>
      </p:sp>
      <p:sp>
        <p:nvSpPr>
          <p:cNvPr id="7" name="Shape 5"/>
          <p:cNvSpPr/>
          <p:nvPr/>
        </p:nvSpPr>
        <p:spPr>
          <a:xfrm>
            <a:off x="4406027" y="1894839"/>
            <a:ext cx="3379946" cy="2776220"/>
          </a:xfrm>
          <a:prstGeom prst="roundRect">
            <a:avLst>
              <a:gd name="adj" fmla="val 3660"/>
            </a:avLst>
          </a:prstGeom>
          <a:solidFill>
            <a:srgbClr val="14213D"/>
          </a:solidFill>
        </p:spPr>
      </p:sp>
      <p:sp>
        <p:nvSpPr>
          <p:cNvPr id="8" name="Text 6"/>
          <p:cNvSpPr/>
          <p:nvPr/>
        </p:nvSpPr>
        <p:spPr>
          <a:xfrm>
            <a:off x="4660027" y="2148839"/>
            <a:ext cx="2958105"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EXCEPTION HANDLING</a:t>
            </a:r>
            <a:endParaRPr lang="en-US" sz="1800" dirty="0"/>
          </a:p>
        </p:txBody>
      </p:sp>
      <p:sp>
        <p:nvSpPr>
          <p:cNvPr id="9" name="Text 7"/>
          <p:cNvSpPr/>
          <p:nvPr/>
        </p:nvSpPr>
        <p:spPr>
          <a:xfrm>
            <a:off x="4738259" y="2550161"/>
            <a:ext cx="2872253" cy="18923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try runs risky code, catch handles the error, finally always runs</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A bad departure time is caught and the user is asked again</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A missing flight shows a message instead of crashing</a:t>
            </a:r>
            <a:endParaRPr lang="en-US" sz="1400" dirty="0"/>
          </a:p>
        </p:txBody>
      </p:sp>
      <p:sp>
        <p:nvSpPr>
          <p:cNvPr id="10" name="Shape 8"/>
          <p:cNvSpPr/>
          <p:nvPr/>
        </p:nvSpPr>
        <p:spPr>
          <a:xfrm>
            <a:off x="7992349" y="1898014"/>
            <a:ext cx="3383677" cy="2769870"/>
          </a:xfrm>
          <a:prstGeom prst="roundRect">
            <a:avLst>
              <a:gd name="adj" fmla="val 3553"/>
            </a:avLst>
          </a:prstGeom>
          <a:solidFill>
            <a:srgbClr val="FFFDF8"/>
          </a:solidFill>
          <a:ln w="6350">
            <a:solidFill>
              <a:srgbClr val="DDD8CB"/>
            </a:solidFill>
            <a:prstDash val="solid"/>
          </a:ln>
        </p:spPr>
      </p:sp>
      <p:sp>
        <p:nvSpPr>
          <p:cNvPr id="11" name="Text 9"/>
          <p:cNvSpPr/>
          <p:nvPr/>
        </p:nvSpPr>
        <p:spPr>
          <a:xfrm>
            <a:off x="8248253" y="2153921"/>
            <a:ext cx="295802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THIS, SUPER, INTERFACES</a:t>
            </a:r>
            <a:endParaRPr lang="en-US" sz="1800" dirty="0"/>
          </a:p>
        </p:txBody>
      </p:sp>
      <p:sp>
        <p:nvSpPr>
          <p:cNvPr id="12" name="Text 10"/>
          <p:cNvSpPr/>
          <p:nvPr/>
        </p:nvSpPr>
        <p:spPr>
          <a:xfrm>
            <a:off x="8326485" y="2555239"/>
            <a:ext cx="2872171" cy="16256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this is the current object; super is the parent class</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Constructor chaining sets inherited fields first</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Coding to an interface lets new flight types plug in</a:t>
            </a:r>
            <a:endParaRPr lang="en-US" sz="1400" dirty="0"/>
          </a:p>
        </p:txBody>
      </p:sp>
      <p:sp>
        <p:nvSpPr>
          <p:cNvPr id="13" name="Text 11"/>
          <p:cNvSpPr/>
          <p:nvPr/>
        </p:nvSpPr>
        <p:spPr>
          <a:xfrm>
            <a:off x="812800" y="6238242"/>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4" name="Text 12"/>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5</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STRINGS, SORTING AND FILE I/O</a:t>
            </a:r>
            <a:endParaRPr lang="en-US" sz="3600" dirty="0"/>
          </a:p>
        </p:txBody>
      </p:sp>
      <p:sp>
        <p:nvSpPr>
          <p:cNvPr id="4" name="Shape 2"/>
          <p:cNvSpPr/>
          <p:nvPr/>
        </p:nvSpPr>
        <p:spPr>
          <a:xfrm>
            <a:off x="815975" y="1898017"/>
            <a:ext cx="3383677" cy="2780030"/>
          </a:xfrm>
          <a:prstGeom prst="roundRect">
            <a:avLst>
              <a:gd name="adj" fmla="val 3540"/>
            </a:avLst>
          </a:prstGeom>
          <a:solidFill>
            <a:srgbClr val="FFFDF8"/>
          </a:solidFill>
          <a:ln w="6350">
            <a:solidFill>
              <a:srgbClr val="DDD8CB"/>
            </a:solidFill>
            <a:prstDash val="solid"/>
          </a:ln>
        </p:spPr>
      </p:sp>
      <p:sp>
        <p:nvSpPr>
          <p:cNvPr id="5" name="Text 3"/>
          <p:cNvSpPr/>
          <p:nvPr/>
        </p:nvSpPr>
        <p:spPr>
          <a:xfrm>
            <a:off x="1071880" y="2153921"/>
            <a:ext cx="295802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STRINGS</a:t>
            </a:r>
            <a:endParaRPr lang="en-US" sz="1800" dirty="0"/>
          </a:p>
        </p:txBody>
      </p:sp>
      <p:sp>
        <p:nvSpPr>
          <p:cNvPr id="6" name="Text 4"/>
          <p:cNvSpPr/>
          <p:nvPr/>
        </p:nvSpPr>
        <p:spPr>
          <a:xfrm>
            <a:off x="1150112" y="2555242"/>
            <a:ext cx="2872171" cy="18923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Strings are immutable; StringBuilder changes text in place</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split(",") breaks a saved line such as AI101,Delhi,18:45 into fields</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equals() compares flight numbers</a:t>
            </a:r>
            <a:endParaRPr lang="en-US" sz="1400" dirty="0"/>
          </a:p>
        </p:txBody>
      </p:sp>
      <p:sp>
        <p:nvSpPr>
          <p:cNvPr id="7" name="Shape 5"/>
          <p:cNvSpPr/>
          <p:nvPr/>
        </p:nvSpPr>
        <p:spPr>
          <a:xfrm>
            <a:off x="4406027" y="1894842"/>
            <a:ext cx="3379946" cy="2786380"/>
          </a:xfrm>
          <a:prstGeom prst="roundRect">
            <a:avLst>
              <a:gd name="adj" fmla="val 3646"/>
            </a:avLst>
          </a:prstGeom>
          <a:solidFill>
            <a:srgbClr val="14213D"/>
          </a:solidFill>
        </p:spPr>
      </p:sp>
      <p:sp>
        <p:nvSpPr>
          <p:cNvPr id="8" name="Text 6"/>
          <p:cNvSpPr/>
          <p:nvPr/>
        </p:nvSpPr>
        <p:spPr>
          <a:xfrm>
            <a:off x="4660027" y="2148842"/>
            <a:ext cx="2958105"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LIBRARY ALGORITHMS</a:t>
            </a:r>
            <a:endParaRPr lang="en-US" sz="1800" dirty="0"/>
          </a:p>
        </p:txBody>
      </p:sp>
      <p:sp>
        <p:nvSpPr>
          <p:cNvPr id="9" name="Text 7"/>
          <p:cNvSpPr/>
          <p:nvPr/>
        </p:nvSpPr>
        <p:spPr>
          <a:xfrm>
            <a:off x="4738259" y="2550164"/>
            <a:ext cx="2872253" cy="16256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Collections.sort() orders the board</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Comparable gives the natural order, departure time</a:t>
            </a:r>
            <a:endParaRPr lang="en-US" sz="1400" dirty="0"/>
          </a:p>
          <a:p>
            <a:pPr marL="175895" indent="-175895" algn="l">
              <a:lnSpc>
                <a:spcPts val="2100"/>
              </a:lnSpc>
              <a:buSzPct val="100000"/>
              <a:buChar char="•"/>
            </a:pPr>
            <a:r>
              <a:rPr lang="en-US" sz="1400" dirty="0">
                <a:solidFill>
                  <a:srgbClr val="F3F0E8"/>
                </a:solidFill>
                <a:latin typeface="IBM Plex Sans" pitchFamily="34" charset="0"/>
                <a:ea typeface="IBM Plex Sans" pitchFamily="34" charset="-122"/>
                <a:cs typeface="IBM Plex Sans" pitchFamily="34" charset="-120"/>
              </a:rPr>
              <a:t>Comparator adds other rules, such as destination</a:t>
            </a:r>
            <a:endParaRPr lang="en-US" sz="1400" dirty="0"/>
          </a:p>
        </p:txBody>
      </p:sp>
      <p:sp>
        <p:nvSpPr>
          <p:cNvPr id="10" name="Shape 8"/>
          <p:cNvSpPr/>
          <p:nvPr/>
        </p:nvSpPr>
        <p:spPr>
          <a:xfrm>
            <a:off x="7992349" y="1898017"/>
            <a:ext cx="3383677" cy="2780030"/>
          </a:xfrm>
          <a:prstGeom prst="roundRect">
            <a:avLst>
              <a:gd name="adj" fmla="val 3540"/>
            </a:avLst>
          </a:prstGeom>
          <a:solidFill>
            <a:srgbClr val="FFFDF8"/>
          </a:solidFill>
          <a:ln w="6350">
            <a:solidFill>
              <a:srgbClr val="DDD8CB"/>
            </a:solidFill>
            <a:prstDash val="solid"/>
          </a:ln>
        </p:spPr>
      </p:sp>
      <p:sp>
        <p:nvSpPr>
          <p:cNvPr id="11" name="Text 9"/>
          <p:cNvSpPr/>
          <p:nvPr/>
        </p:nvSpPr>
        <p:spPr>
          <a:xfrm>
            <a:off x="8248253" y="2153921"/>
            <a:ext cx="2958023"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FILE I/O</a:t>
            </a:r>
            <a:endParaRPr lang="en-US" sz="1800" dirty="0"/>
          </a:p>
        </p:txBody>
      </p:sp>
      <p:sp>
        <p:nvSpPr>
          <p:cNvPr id="12" name="Text 10"/>
          <p:cNvSpPr/>
          <p:nvPr/>
        </p:nvSpPr>
        <p:spPr>
          <a:xfrm>
            <a:off x="8326485" y="2555242"/>
            <a:ext cx="2872171" cy="16256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Files.writeString() saves the schedule</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BufferedReader reads it back line by line</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try-with-resources closes the file automatically</a:t>
            </a:r>
            <a:endParaRPr lang="en-US" sz="1400" dirty="0"/>
          </a:p>
        </p:txBody>
      </p:sp>
      <p:sp>
        <p:nvSpPr>
          <p:cNvPr id="13" name="Text 11"/>
          <p:cNvSpPr/>
          <p:nvPr/>
        </p:nvSpPr>
        <p:spPr>
          <a:xfrm>
            <a:off x="812800" y="6238242"/>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4" name="Text 12"/>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6</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COLLECTIONS AND GENERICS</a:t>
            </a:r>
            <a:endParaRPr lang="en-US" sz="3600" dirty="0"/>
          </a:p>
        </p:txBody>
      </p:sp>
      <p:sp>
        <p:nvSpPr>
          <p:cNvPr id="4" name="Shape 2"/>
          <p:cNvSpPr/>
          <p:nvPr/>
        </p:nvSpPr>
        <p:spPr>
          <a:xfrm>
            <a:off x="815975" y="1872617"/>
            <a:ext cx="5175250" cy="979170"/>
          </a:xfrm>
          <a:prstGeom prst="roundRect">
            <a:avLst>
              <a:gd name="adj" fmla="val 10052"/>
            </a:avLst>
          </a:prstGeom>
          <a:solidFill>
            <a:srgbClr val="FFFDF8"/>
          </a:solidFill>
          <a:ln w="6350">
            <a:solidFill>
              <a:srgbClr val="DDD8CB"/>
            </a:solidFill>
            <a:prstDash val="solid"/>
          </a:ln>
        </p:spPr>
      </p:sp>
      <p:sp>
        <p:nvSpPr>
          <p:cNvPr id="5" name="Text 3"/>
          <p:cNvSpPr/>
          <p:nvPr/>
        </p:nvSpPr>
        <p:spPr>
          <a:xfrm>
            <a:off x="1071880" y="2077721"/>
            <a:ext cx="4803343" cy="269240"/>
          </a:xfrm>
          <a:prstGeom prst="rect">
            <a:avLst/>
          </a:prstGeom>
          <a:noFill/>
        </p:spPr>
        <p:txBody>
          <a:bodyPr wrap="square" lIns="0" tIns="0" rIns="0" bIns="0" rtlCol="0" anchor="t">
            <a:normAutofit/>
          </a:bodyPr>
          <a:lstStyle/>
          <a:p>
            <a:pPr marL="0" indent="0" algn="l">
              <a:lnSpc>
                <a:spcPts val="1920"/>
              </a:lnSpc>
              <a:buNone/>
            </a:pPr>
            <a:r>
              <a:rPr lang="en-US" sz="1600" dirty="0">
                <a:solidFill>
                  <a:srgbClr val="14213D"/>
                </a:solidFill>
                <a:latin typeface="JetBrains Mono" pitchFamily="49" charset="0"/>
                <a:ea typeface="JetBrains Mono" pitchFamily="49" charset="-122"/>
                <a:cs typeface="JetBrains Mono" pitchFamily="49" charset="-120"/>
              </a:rPr>
              <a:t>ArrayList&lt;Flight&gt;</a:t>
            </a:r>
            <a:endParaRPr lang="en-US" sz="1600" dirty="0"/>
          </a:p>
        </p:txBody>
      </p:sp>
      <p:sp>
        <p:nvSpPr>
          <p:cNvPr id="6" name="Text 4"/>
          <p:cNvSpPr/>
          <p:nvPr/>
        </p:nvSpPr>
        <p:spPr>
          <a:xfrm>
            <a:off x="1071880" y="2397764"/>
            <a:ext cx="4803343"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Ordered list of all flights, with fast access by index.</a:t>
            </a:r>
            <a:endParaRPr lang="en-US" sz="1400" dirty="0"/>
          </a:p>
        </p:txBody>
      </p:sp>
      <p:sp>
        <p:nvSpPr>
          <p:cNvPr id="7" name="Shape 5"/>
          <p:cNvSpPr/>
          <p:nvPr/>
        </p:nvSpPr>
        <p:spPr>
          <a:xfrm>
            <a:off x="6200775" y="1872617"/>
            <a:ext cx="5175250" cy="979170"/>
          </a:xfrm>
          <a:prstGeom prst="roundRect">
            <a:avLst>
              <a:gd name="adj" fmla="val 10052"/>
            </a:avLst>
          </a:prstGeom>
          <a:solidFill>
            <a:srgbClr val="FFFDF8"/>
          </a:solidFill>
          <a:ln w="6350">
            <a:solidFill>
              <a:srgbClr val="DDD8CB"/>
            </a:solidFill>
            <a:prstDash val="solid"/>
          </a:ln>
        </p:spPr>
      </p:sp>
      <p:sp>
        <p:nvSpPr>
          <p:cNvPr id="8" name="Text 6"/>
          <p:cNvSpPr/>
          <p:nvPr/>
        </p:nvSpPr>
        <p:spPr>
          <a:xfrm>
            <a:off x="6456680" y="2077721"/>
            <a:ext cx="4803343" cy="269240"/>
          </a:xfrm>
          <a:prstGeom prst="rect">
            <a:avLst/>
          </a:prstGeom>
          <a:noFill/>
        </p:spPr>
        <p:txBody>
          <a:bodyPr wrap="square" lIns="0" tIns="0" rIns="0" bIns="0" rtlCol="0" anchor="t">
            <a:normAutofit/>
          </a:bodyPr>
          <a:lstStyle/>
          <a:p>
            <a:pPr marL="0" indent="0" algn="l">
              <a:lnSpc>
                <a:spcPts val="1920"/>
              </a:lnSpc>
              <a:buNone/>
            </a:pPr>
            <a:r>
              <a:rPr lang="en-US" sz="1600" dirty="0">
                <a:solidFill>
                  <a:srgbClr val="14213D"/>
                </a:solidFill>
                <a:latin typeface="JetBrains Mono" pitchFamily="49" charset="0"/>
                <a:ea typeface="JetBrains Mono" pitchFamily="49" charset="-122"/>
                <a:cs typeface="JetBrains Mono" pitchFamily="49" charset="-120"/>
              </a:rPr>
              <a:t>HashMap&lt;String, Flight&gt;</a:t>
            </a:r>
            <a:endParaRPr lang="en-US" sz="1600" dirty="0"/>
          </a:p>
        </p:txBody>
      </p:sp>
      <p:sp>
        <p:nvSpPr>
          <p:cNvPr id="9" name="Text 7"/>
          <p:cNvSpPr/>
          <p:nvPr/>
        </p:nvSpPr>
        <p:spPr>
          <a:xfrm>
            <a:off x="6456680" y="2397764"/>
            <a:ext cx="4803343"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Finds a flight by its number; every key is unique.</a:t>
            </a:r>
            <a:endParaRPr lang="en-US" sz="1400" dirty="0"/>
          </a:p>
        </p:txBody>
      </p:sp>
      <p:sp>
        <p:nvSpPr>
          <p:cNvPr id="10" name="Shape 8"/>
          <p:cNvSpPr/>
          <p:nvPr/>
        </p:nvSpPr>
        <p:spPr>
          <a:xfrm>
            <a:off x="815975" y="3061339"/>
            <a:ext cx="5175250" cy="979170"/>
          </a:xfrm>
          <a:prstGeom prst="roundRect">
            <a:avLst>
              <a:gd name="adj" fmla="val 10052"/>
            </a:avLst>
          </a:prstGeom>
          <a:solidFill>
            <a:srgbClr val="FFFDF8"/>
          </a:solidFill>
          <a:ln w="6350">
            <a:solidFill>
              <a:srgbClr val="DDD8CB"/>
            </a:solidFill>
            <a:prstDash val="solid"/>
          </a:ln>
        </p:spPr>
      </p:sp>
      <p:sp>
        <p:nvSpPr>
          <p:cNvPr id="11" name="Text 9"/>
          <p:cNvSpPr/>
          <p:nvPr/>
        </p:nvSpPr>
        <p:spPr>
          <a:xfrm>
            <a:off x="1071880" y="3266442"/>
            <a:ext cx="4803343" cy="269240"/>
          </a:xfrm>
          <a:prstGeom prst="rect">
            <a:avLst/>
          </a:prstGeom>
          <a:noFill/>
        </p:spPr>
        <p:txBody>
          <a:bodyPr wrap="square" lIns="0" tIns="0" rIns="0" bIns="0" rtlCol="0" anchor="t">
            <a:normAutofit/>
          </a:bodyPr>
          <a:lstStyle/>
          <a:p>
            <a:pPr marL="0" indent="0" algn="l">
              <a:lnSpc>
                <a:spcPts val="1920"/>
              </a:lnSpc>
              <a:buNone/>
            </a:pPr>
            <a:r>
              <a:rPr lang="en-US" sz="1600" dirty="0">
                <a:solidFill>
                  <a:srgbClr val="14213D"/>
                </a:solidFill>
                <a:latin typeface="JetBrains Mono" pitchFamily="49" charset="0"/>
                <a:ea typeface="JetBrains Mono" pitchFamily="49" charset="-122"/>
                <a:cs typeface="JetBrains Mono" pitchFamily="49" charset="-120"/>
              </a:rPr>
              <a:t>HashSet&lt;String&gt;</a:t>
            </a:r>
            <a:endParaRPr lang="en-US" sz="1600" dirty="0"/>
          </a:p>
        </p:txBody>
      </p:sp>
      <p:sp>
        <p:nvSpPr>
          <p:cNvPr id="12" name="Text 10"/>
          <p:cNvSpPr/>
          <p:nvPr/>
        </p:nvSpPr>
        <p:spPr>
          <a:xfrm>
            <a:off x="1071880" y="3586479"/>
            <a:ext cx="4803343"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Stores each destination once; duplicates are ignored.</a:t>
            </a:r>
            <a:endParaRPr lang="en-US" sz="1400" dirty="0"/>
          </a:p>
        </p:txBody>
      </p:sp>
      <p:sp>
        <p:nvSpPr>
          <p:cNvPr id="13" name="Shape 11"/>
          <p:cNvSpPr/>
          <p:nvPr/>
        </p:nvSpPr>
        <p:spPr>
          <a:xfrm>
            <a:off x="6200775" y="3061339"/>
            <a:ext cx="5175250" cy="979170"/>
          </a:xfrm>
          <a:prstGeom prst="roundRect">
            <a:avLst>
              <a:gd name="adj" fmla="val 10052"/>
            </a:avLst>
          </a:prstGeom>
          <a:solidFill>
            <a:srgbClr val="FFFDF8"/>
          </a:solidFill>
          <a:ln w="6350">
            <a:solidFill>
              <a:srgbClr val="DDD8CB"/>
            </a:solidFill>
            <a:prstDash val="solid"/>
          </a:ln>
        </p:spPr>
      </p:sp>
      <p:sp>
        <p:nvSpPr>
          <p:cNvPr id="14" name="Text 12"/>
          <p:cNvSpPr/>
          <p:nvPr/>
        </p:nvSpPr>
        <p:spPr>
          <a:xfrm>
            <a:off x="6456680" y="3266442"/>
            <a:ext cx="4803343" cy="269240"/>
          </a:xfrm>
          <a:prstGeom prst="rect">
            <a:avLst/>
          </a:prstGeom>
          <a:noFill/>
        </p:spPr>
        <p:txBody>
          <a:bodyPr wrap="square" lIns="0" tIns="0" rIns="0" bIns="0" rtlCol="0" anchor="t">
            <a:normAutofit/>
          </a:bodyPr>
          <a:lstStyle/>
          <a:p>
            <a:pPr marL="0" indent="0" algn="l">
              <a:lnSpc>
                <a:spcPts val="1920"/>
              </a:lnSpc>
              <a:buNone/>
            </a:pPr>
            <a:r>
              <a:rPr lang="en-US" sz="1600" dirty="0">
                <a:solidFill>
                  <a:srgbClr val="14213D"/>
                </a:solidFill>
                <a:latin typeface="JetBrains Mono" pitchFamily="49" charset="0"/>
                <a:ea typeface="JetBrains Mono" pitchFamily="49" charset="-122"/>
                <a:cs typeface="JetBrains Mono" pitchFamily="49" charset="-120"/>
              </a:rPr>
              <a:t>TreeMap&lt;String, Flight&gt;</a:t>
            </a:r>
            <a:endParaRPr lang="en-US" sz="1600" dirty="0"/>
          </a:p>
        </p:txBody>
      </p:sp>
      <p:sp>
        <p:nvSpPr>
          <p:cNvPr id="15" name="Text 13"/>
          <p:cNvSpPr/>
          <p:nvPr/>
        </p:nvSpPr>
        <p:spPr>
          <a:xfrm>
            <a:off x="6456680" y="3586479"/>
            <a:ext cx="4803343"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F4A5C"/>
                </a:solidFill>
                <a:latin typeface="IBM Plex Sans" pitchFamily="34" charset="0"/>
                <a:ea typeface="IBM Plex Sans" pitchFamily="34" charset="-122"/>
                <a:cs typeface="IBM Plex Sans" pitchFamily="34" charset="-120"/>
              </a:rPr>
              <a:t>Keeps flights sorted by key, such as departure time.</a:t>
            </a:r>
            <a:endParaRPr lang="en-US" sz="1400" dirty="0"/>
          </a:p>
        </p:txBody>
      </p:sp>
      <p:sp>
        <p:nvSpPr>
          <p:cNvPr id="16" name="Text 14"/>
          <p:cNvSpPr/>
          <p:nvPr/>
        </p:nvSpPr>
        <p:spPr>
          <a:xfrm>
            <a:off x="812800" y="4272279"/>
            <a:ext cx="10566400" cy="604520"/>
          </a:xfrm>
          <a:prstGeom prst="roundRect">
            <a:avLst>
              <a:gd name="adj" fmla="val 16807"/>
            </a:avLst>
          </a:prstGeom>
          <a:solidFill>
            <a:srgbClr val="14213D"/>
          </a:solidFill>
        </p:spPr>
        <p:txBody>
          <a:bodyPr wrap="square" lIns="224242" tIns="148042" rIns="0" bIns="122642"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Generics</a:t>
            </a:r>
            <a:r>
              <a:rPr lang="en-US" sz="1400" dirty="0">
                <a:solidFill>
                  <a:srgbClr val="F3F0E8"/>
                </a:solidFill>
                <a:latin typeface="IBM Plex Sans" pitchFamily="34" charset="0"/>
                <a:ea typeface="IBM Plex Sans" pitchFamily="34" charset="-122"/>
                <a:cs typeface="IBM Plex Sans" pitchFamily="34" charset="-120"/>
              </a:rPr>
              <a:t> such as ArrayList&lt;Flight&gt; accept only Flight objects, so type errors are caught early.</a:t>
            </a:r>
            <a:endParaRPr lang="en-US" sz="1400" dirty="0"/>
          </a:p>
        </p:txBody>
      </p:sp>
      <p:sp>
        <p:nvSpPr>
          <p:cNvPr id="17" name="Text 15"/>
          <p:cNvSpPr/>
          <p:nvPr/>
        </p:nvSpPr>
        <p:spPr>
          <a:xfrm>
            <a:off x="812800" y="6238242"/>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8" name="Text 16"/>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8A5600"/>
                </a:solidFill>
                <a:latin typeface="IBM Plex Sans" pitchFamily="34" charset="0"/>
                <a:ea typeface="IBM Plex Sans" pitchFamily="34" charset="-122"/>
                <a:cs typeface="IBM Plex Sans" pitchFamily="34" charset="-120"/>
              </a:rPr>
              <a:t>MODULE 6 (CONTINUED)</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4213D"/>
                </a:solidFill>
                <a:latin typeface="Oswald" pitchFamily="34" charset="0"/>
                <a:ea typeface="Oswald" pitchFamily="34" charset="-122"/>
                <a:cs typeface="Oswald" pitchFamily="34" charset="-120"/>
              </a:rPr>
              <a:t>LAMBDAS AND STREAMS</a:t>
            </a:r>
            <a:endParaRPr lang="en-US" sz="3600" dirty="0"/>
          </a:p>
        </p:txBody>
      </p:sp>
      <p:sp>
        <p:nvSpPr>
          <p:cNvPr id="4" name="Shape 2"/>
          <p:cNvSpPr/>
          <p:nvPr/>
        </p:nvSpPr>
        <p:spPr>
          <a:xfrm>
            <a:off x="815975" y="1898017"/>
            <a:ext cx="5149850" cy="2635250"/>
          </a:xfrm>
          <a:prstGeom prst="roundRect">
            <a:avLst>
              <a:gd name="adj" fmla="val 3735"/>
            </a:avLst>
          </a:prstGeom>
          <a:solidFill>
            <a:srgbClr val="FFFDF8"/>
          </a:solidFill>
          <a:ln w="6350">
            <a:solidFill>
              <a:srgbClr val="DDD8CB"/>
            </a:solidFill>
            <a:prstDash val="solid"/>
          </a:ln>
        </p:spPr>
      </p:sp>
      <p:sp>
        <p:nvSpPr>
          <p:cNvPr id="5" name="Text 3"/>
          <p:cNvSpPr/>
          <p:nvPr/>
        </p:nvSpPr>
        <p:spPr>
          <a:xfrm>
            <a:off x="1071880" y="2153921"/>
            <a:ext cx="4777181"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Oswald" pitchFamily="34" charset="0"/>
                <a:ea typeface="Oswald" pitchFamily="34" charset="-122"/>
                <a:cs typeface="Oswald" pitchFamily="34" charset="-120"/>
              </a:rPr>
              <a:t>CONCEPTS</a:t>
            </a:r>
            <a:endParaRPr lang="en-US" sz="1800" dirty="0"/>
          </a:p>
        </p:txBody>
      </p:sp>
      <p:sp>
        <p:nvSpPr>
          <p:cNvPr id="6" name="Text 4"/>
          <p:cNvSpPr/>
          <p:nvPr/>
        </p:nvSpPr>
        <p:spPr>
          <a:xfrm>
            <a:off x="1150112" y="2555242"/>
            <a:ext cx="4691329" cy="1625600"/>
          </a:xfrm>
          <a:prstGeom prst="rect">
            <a:avLst/>
          </a:prstGeom>
          <a:noFill/>
        </p:spPr>
        <p:txBody>
          <a:bodyPr wrap="square" lIns="0" tIns="0" rIns="0" bIns="0" rtlCol="0" anchor="t">
            <a:normAutofit/>
          </a:bodyPr>
          <a:lstStyle/>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Functional interfaces: Predicate, Function, Consumer, Supplier, Comparator</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A lambda such as f -&gt; f.isDelayed() passes behaviour as a value</a:t>
            </a:r>
            <a:endParaRPr lang="en-US" sz="1400" dirty="0"/>
          </a:p>
          <a:p>
            <a:pPr marL="175895" indent="-175895" algn="l">
              <a:lnSpc>
                <a:spcPts val="2100"/>
              </a:lnSpc>
              <a:buSzPct val="100000"/>
              <a:buChar char="•"/>
            </a:pPr>
            <a:r>
              <a:rPr lang="en-US" sz="1400" dirty="0">
                <a:solidFill>
                  <a:srgbClr val="3F4A5C"/>
                </a:solidFill>
                <a:latin typeface="IBM Plex Sans" pitchFamily="34" charset="0"/>
                <a:ea typeface="IBM Plex Sans" pitchFamily="34" charset="-122"/>
                <a:cs typeface="IBM Plex Sans" pitchFamily="34" charset="-120"/>
              </a:rPr>
              <a:t>A pipeline has a source, intermediate steps (filter, map, sorted) and one terminal step (forEach, collect, count)</a:t>
            </a:r>
            <a:endParaRPr lang="en-US" sz="1400" dirty="0"/>
          </a:p>
        </p:txBody>
      </p:sp>
      <p:sp>
        <p:nvSpPr>
          <p:cNvPr id="7" name="Shape 5"/>
          <p:cNvSpPr/>
          <p:nvPr/>
        </p:nvSpPr>
        <p:spPr>
          <a:xfrm>
            <a:off x="6172200" y="1894842"/>
            <a:ext cx="5207000" cy="2641600"/>
          </a:xfrm>
          <a:prstGeom prst="roundRect">
            <a:avLst>
              <a:gd name="adj" fmla="val 3846"/>
            </a:avLst>
          </a:prstGeom>
          <a:solidFill>
            <a:srgbClr val="14213D"/>
          </a:solidFill>
        </p:spPr>
      </p:sp>
      <p:sp>
        <p:nvSpPr>
          <p:cNvPr id="8" name="Text 6"/>
          <p:cNvSpPr/>
          <p:nvPr/>
        </p:nvSpPr>
        <p:spPr>
          <a:xfrm>
            <a:off x="6426200" y="2148842"/>
            <a:ext cx="4839970"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5B73B"/>
                </a:solidFill>
                <a:latin typeface="Oswald" pitchFamily="34" charset="0"/>
                <a:ea typeface="Oswald" pitchFamily="34" charset="-122"/>
                <a:cs typeface="Oswald" pitchFamily="34" charset="-120"/>
              </a:rPr>
              <a:t>IN THE PROJECT: DELAYED REPORT</a:t>
            </a:r>
            <a:endParaRPr lang="en-US" sz="1800" dirty="0"/>
          </a:p>
        </p:txBody>
      </p:sp>
      <p:sp>
        <p:nvSpPr>
          <p:cNvPr id="9" name="Text 7"/>
          <p:cNvSpPr/>
          <p:nvPr/>
        </p:nvSpPr>
        <p:spPr>
          <a:xfrm>
            <a:off x="6426200" y="2575564"/>
            <a:ext cx="4839970" cy="1082040"/>
          </a:xfrm>
          <a:prstGeom prst="rect">
            <a:avLst/>
          </a:prstGeom>
          <a:noFill/>
        </p:spPr>
        <p:txBody>
          <a:bodyPr wrap="square" lIns="0" tIns="0" rIns="0" bIns="0" rtlCol="0" anchor="t">
            <a:normAutofit/>
          </a:bodyPr>
          <a:lstStyle/>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flights.stream()</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    .filter(f -&gt; f.isDelayed())</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    .sorted()</a:t>
            </a:r>
            <a:endParaRPr lang="en-US" sz="1300" dirty="0"/>
          </a:p>
          <a:p>
            <a:pPr marL="0" indent="0" algn="l">
              <a:lnSpc>
                <a:spcPts val="2080"/>
              </a:lnSpc>
              <a:buNone/>
            </a:pPr>
            <a:r>
              <a:rPr lang="en-US" sz="1300" dirty="0">
                <a:solidFill>
                  <a:srgbClr val="F3F0E8"/>
                </a:solidFill>
                <a:latin typeface="JetBrains Mono" pitchFamily="49" charset="0"/>
                <a:ea typeface="JetBrains Mono" pitchFamily="49" charset="-122"/>
                <a:cs typeface="JetBrains Mono" pitchFamily="49" charset="-120"/>
              </a:rPr>
              <a:t>    .forEach(System.out::println);</a:t>
            </a:r>
            <a:endParaRPr lang="en-US" sz="1300" dirty="0"/>
          </a:p>
        </p:txBody>
      </p:sp>
      <p:sp>
        <p:nvSpPr>
          <p:cNvPr id="10" name="Text 8"/>
          <p:cNvSpPr/>
          <p:nvPr/>
        </p:nvSpPr>
        <p:spPr>
          <a:xfrm>
            <a:off x="6426200" y="3784600"/>
            <a:ext cx="4839970"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9C4D3"/>
                </a:solidFill>
                <a:latin typeface="IBM Plex Sans" pitchFamily="34" charset="0"/>
                <a:ea typeface="IBM Plex Sans" pitchFamily="34" charset="-122"/>
                <a:cs typeface="IBM Plex Sans" pitchFamily="34" charset="-120"/>
              </a:rPr>
              <a:t>Collectors.groupingBy with counting() reports how many flights have each status.</a:t>
            </a:r>
            <a:endParaRPr lang="en-US" sz="1400" dirty="0"/>
          </a:p>
        </p:txBody>
      </p:sp>
      <p:sp>
        <p:nvSpPr>
          <p:cNvPr id="11" name="Text 9"/>
          <p:cNvSpPr/>
          <p:nvPr/>
        </p:nvSpPr>
        <p:spPr>
          <a:xfrm>
            <a:off x="812800" y="6238242"/>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2"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B6577"/>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5B73B"/>
                </a:solidFill>
                <a:latin typeface="IBM Plex Sans" pitchFamily="34" charset="0"/>
                <a:ea typeface="IBM Plex Sans" pitchFamily="34" charset="-122"/>
                <a:cs typeface="IBM Plex Sans" pitchFamily="34" charset="-120"/>
              </a:rPr>
              <a:t>WRAPPING UP</a:t>
            </a:r>
            <a:endParaRPr lang="en-US" sz="1400" dirty="0"/>
          </a:p>
        </p:txBody>
      </p:sp>
      <p:sp>
        <p:nvSpPr>
          <p:cNvPr id="3" name="Text 1"/>
          <p:cNvSpPr/>
          <p:nvPr>
            <p:ph type="title"/>
          </p:nvPr>
        </p:nvSpPr>
        <p:spPr>
          <a:xfrm>
            <a:off x="812800" y="1137921"/>
            <a:ext cx="10883392" cy="528320"/>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F3F0E8"/>
                </a:solidFill>
                <a:latin typeface="Oswald" pitchFamily="34" charset="0"/>
                <a:ea typeface="Oswald" pitchFamily="34" charset="-122"/>
                <a:cs typeface="Oswald" pitchFamily="34" charset="-120"/>
              </a:rPr>
              <a:t>CONCLUSION</a:t>
            </a:r>
            <a:endParaRPr lang="en-US" sz="3600" dirty="0"/>
          </a:p>
        </p:txBody>
      </p:sp>
      <p:sp>
        <p:nvSpPr>
          <p:cNvPr id="4" name="Text 2"/>
          <p:cNvSpPr/>
          <p:nvPr/>
        </p:nvSpPr>
        <p:spPr>
          <a:xfrm>
            <a:off x="812800" y="1869442"/>
            <a:ext cx="10883392" cy="882650"/>
          </a:xfrm>
          <a:prstGeom prst="rect">
            <a:avLst/>
          </a:prstGeom>
          <a:noFill/>
        </p:spPr>
        <p:txBody>
          <a:bodyPr wrap="square" lIns="0" tIns="0" rIns="0" bIns="0" rtlCol="0" anchor="t">
            <a:normAutofit/>
          </a:bodyPr>
          <a:lstStyle/>
          <a:p>
            <a:pPr marL="0" indent="0" algn="l">
              <a:lnSpc>
                <a:spcPts val="2250"/>
              </a:lnSpc>
              <a:buNone/>
            </a:pPr>
            <a:r>
              <a:rPr lang="en-US" sz="1500" dirty="0">
                <a:solidFill>
                  <a:srgbClr val="B9C4D3"/>
                </a:solidFill>
                <a:latin typeface="IBM Plex Sans" pitchFamily="34" charset="0"/>
                <a:ea typeface="IBM Plex Sans" pitchFamily="34" charset="-122"/>
                <a:cs typeface="IBM Plex Sans" pitchFamily="34" charset="-120"/>
              </a:rPr>
              <a:t>The Airport Flight Board and Scheduler brings the course together in one working program. Each module adds a layer, from the first algorithm to stream-based reports, and the result is a flight board that is organized, searchable and saved between runs.</a:t>
            </a:r>
            <a:endParaRPr lang="en-US" sz="1500" dirty="0"/>
          </a:p>
        </p:txBody>
      </p:sp>
      <p:sp>
        <p:nvSpPr>
          <p:cNvPr id="5" name="Text 3"/>
          <p:cNvSpPr/>
          <p:nvPr/>
        </p:nvSpPr>
        <p:spPr>
          <a:xfrm>
            <a:off x="815975" y="2958467"/>
            <a:ext cx="3414157" cy="557530"/>
          </a:xfrm>
          <a:prstGeom prst="roundRect">
            <a:avLst>
              <a:gd name="adj" fmla="val 13098"/>
            </a:avLst>
          </a:prstGeom>
          <a:solidFill>
            <a:srgbClr val="16263D"/>
          </a:solidFill>
          <a:ln w="6350">
            <a:solidFill>
              <a:srgbClr val="2C4263"/>
            </a:solidFill>
            <a:prstDash val="solid"/>
          </a:ln>
        </p:spPr>
        <p:txBody>
          <a:bodyPr wrap="square" lIns="183717"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1</a:t>
            </a:r>
            <a:r>
              <a:rPr lang="en-US" sz="1400" dirty="0">
                <a:solidFill>
                  <a:srgbClr val="F3F0E8"/>
                </a:solidFill>
                <a:latin typeface="IBM Plex Sans" pitchFamily="34" charset="0"/>
                <a:ea typeface="IBM Plex Sans" pitchFamily="34" charset="-122"/>
                <a:cs typeface="IBM Plex Sans" pitchFamily="34" charset="-120"/>
              </a:rPr>
              <a:t> Algorithms and flowcharts</a:t>
            </a:r>
            <a:endParaRPr lang="en-US" sz="1400" dirty="0"/>
          </a:p>
        </p:txBody>
      </p:sp>
      <p:sp>
        <p:nvSpPr>
          <p:cNvPr id="6" name="Text 4"/>
          <p:cNvSpPr/>
          <p:nvPr/>
        </p:nvSpPr>
        <p:spPr>
          <a:xfrm>
            <a:off x="4388882" y="2958467"/>
            <a:ext cx="3414157" cy="557530"/>
          </a:xfrm>
          <a:prstGeom prst="roundRect">
            <a:avLst>
              <a:gd name="adj" fmla="val 13098"/>
            </a:avLst>
          </a:prstGeom>
          <a:solidFill>
            <a:srgbClr val="16263D"/>
          </a:solidFill>
          <a:ln w="6350">
            <a:solidFill>
              <a:srgbClr val="2C4263"/>
            </a:solidFill>
            <a:prstDash val="solid"/>
          </a:ln>
        </p:spPr>
        <p:txBody>
          <a:bodyPr wrap="square" lIns="183717"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2</a:t>
            </a:r>
            <a:r>
              <a:rPr lang="en-US" sz="1400" dirty="0">
                <a:solidFill>
                  <a:srgbClr val="F3F0E8"/>
                </a:solidFill>
                <a:latin typeface="IBM Plex Sans" pitchFamily="34" charset="0"/>
                <a:ea typeface="IBM Plex Sans" pitchFamily="34" charset="-122"/>
                <a:cs typeface="IBM Plex Sans" pitchFamily="34" charset="-120"/>
              </a:rPr>
              <a:t> Data, input and operators</a:t>
            </a:r>
            <a:endParaRPr lang="en-US" sz="1400" dirty="0"/>
          </a:p>
        </p:txBody>
      </p:sp>
      <p:sp>
        <p:nvSpPr>
          <p:cNvPr id="7" name="Text 5"/>
          <p:cNvSpPr/>
          <p:nvPr/>
        </p:nvSpPr>
        <p:spPr>
          <a:xfrm>
            <a:off x="7961789" y="2958467"/>
            <a:ext cx="3414157" cy="557530"/>
          </a:xfrm>
          <a:prstGeom prst="roundRect">
            <a:avLst>
              <a:gd name="adj" fmla="val 13098"/>
            </a:avLst>
          </a:prstGeom>
          <a:solidFill>
            <a:srgbClr val="16263D"/>
          </a:solidFill>
          <a:ln w="6350">
            <a:solidFill>
              <a:srgbClr val="2C4263"/>
            </a:solidFill>
            <a:prstDash val="solid"/>
          </a:ln>
        </p:spPr>
        <p:txBody>
          <a:bodyPr wrap="square" lIns="183716"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3</a:t>
            </a:r>
            <a:r>
              <a:rPr lang="en-US" sz="1400" dirty="0">
                <a:solidFill>
                  <a:srgbClr val="F3F0E8"/>
                </a:solidFill>
                <a:latin typeface="IBM Plex Sans" pitchFamily="34" charset="0"/>
                <a:ea typeface="IBM Plex Sans" pitchFamily="34" charset="-122"/>
                <a:cs typeface="IBM Plex Sans" pitchFamily="34" charset="-120"/>
              </a:rPr>
              <a:t> Control flow and arrays</a:t>
            </a:r>
            <a:endParaRPr lang="en-US" sz="1400" dirty="0"/>
          </a:p>
        </p:txBody>
      </p:sp>
      <p:sp>
        <p:nvSpPr>
          <p:cNvPr id="8" name="Text 6"/>
          <p:cNvSpPr/>
          <p:nvPr/>
        </p:nvSpPr>
        <p:spPr>
          <a:xfrm>
            <a:off x="815975" y="3674746"/>
            <a:ext cx="3414157" cy="557530"/>
          </a:xfrm>
          <a:prstGeom prst="roundRect">
            <a:avLst>
              <a:gd name="adj" fmla="val 13098"/>
            </a:avLst>
          </a:prstGeom>
          <a:solidFill>
            <a:srgbClr val="16263D"/>
          </a:solidFill>
          <a:ln w="6350">
            <a:solidFill>
              <a:srgbClr val="2C4263"/>
            </a:solidFill>
            <a:prstDash val="solid"/>
          </a:ln>
        </p:spPr>
        <p:txBody>
          <a:bodyPr wrap="square" lIns="183717"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4</a:t>
            </a:r>
            <a:r>
              <a:rPr lang="en-US" sz="1400" dirty="0">
                <a:solidFill>
                  <a:srgbClr val="F3F0E8"/>
                </a:solidFill>
                <a:latin typeface="IBM Plex Sans" pitchFamily="34" charset="0"/>
                <a:ea typeface="IBM Plex Sans" pitchFamily="34" charset="-122"/>
                <a:cs typeface="IBM Plex Sans" pitchFamily="34" charset="-120"/>
              </a:rPr>
              <a:t> OOP and exceptions</a:t>
            </a:r>
            <a:endParaRPr lang="en-US" sz="1400" dirty="0"/>
          </a:p>
        </p:txBody>
      </p:sp>
      <p:sp>
        <p:nvSpPr>
          <p:cNvPr id="9" name="Text 7"/>
          <p:cNvSpPr/>
          <p:nvPr/>
        </p:nvSpPr>
        <p:spPr>
          <a:xfrm>
            <a:off x="4388882" y="3674746"/>
            <a:ext cx="3414157" cy="557530"/>
          </a:xfrm>
          <a:prstGeom prst="roundRect">
            <a:avLst>
              <a:gd name="adj" fmla="val 13098"/>
            </a:avLst>
          </a:prstGeom>
          <a:solidFill>
            <a:srgbClr val="16263D"/>
          </a:solidFill>
          <a:ln w="6350">
            <a:solidFill>
              <a:srgbClr val="2C4263"/>
            </a:solidFill>
            <a:prstDash val="solid"/>
          </a:ln>
        </p:spPr>
        <p:txBody>
          <a:bodyPr wrap="square" lIns="183717"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5</a:t>
            </a:r>
            <a:r>
              <a:rPr lang="en-US" sz="1400" dirty="0">
                <a:solidFill>
                  <a:srgbClr val="F3F0E8"/>
                </a:solidFill>
                <a:latin typeface="IBM Plex Sans" pitchFamily="34" charset="0"/>
                <a:ea typeface="IBM Plex Sans" pitchFamily="34" charset="-122"/>
                <a:cs typeface="IBM Plex Sans" pitchFamily="34" charset="-120"/>
              </a:rPr>
              <a:t> Strings, sorting and files</a:t>
            </a:r>
            <a:endParaRPr lang="en-US" sz="1400" dirty="0"/>
          </a:p>
        </p:txBody>
      </p:sp>
      <p:sp>
        <p:nvSpPr>
          <p:cNvPr id="10" name="Text 8"/>
          <p:cNvSpPr/>
          <p:nvPr/>
        </p:nvSpPr>
        <p:spPr>
          <a:xfrm>
            <a:off x="7961789" y="3674746"/>
            <a:ext cx="3414157" cy="557530"/>
          </a:xfrm>
          <a:prstGeom prst="roundRect">
            <a:avLst>
              <a:gd name="adj" fmla="val 13098"/>
            </a:avLst>
          </a:prstGeom>
          <a:solidFill>
            <a:srgbClr val="16263D"/>
          </a:solidFill>
          <a:ln w="6350">
            <a:solidFill>
              <a:srgbClr val="2C4263"/>
            </a:solidFill>
            <a:prstDash val="solid"/>
          </a:ln>
        </p:spPr>
        <p:txBody>
          <a:bodyPr wrap="square" lIns="183716" tIns="132917" rIns="93599" bIns="107517" rtlCol="0" anchor="t">
            <a:normAutofit/>
          </a:bodyPr>
          <a:lstStyle/>
          <a:p>
            <a:pPr marL="0" indent="0" algn="l">
              <a:lnSpc>
                <a:spcPts val="1960"/>
              </a:lnSpc>
              <a:buNone/>
            </a:pPr>
            <a:r>
              <a:rPr lang="en-US" sz="1400" dirty="0">
                <a:solidFill>
                  <a:srgbClr val="F5B73B"/>
                </a:solidFill>
                <a:latin typeface="IBM Plex Sans" pitchFamily="34" charset="0"/>
                <a:ea typeface="IBM Plex Sans" pitchFamily="34" charset="-122"/>
                <a:cs typeface="IBM Plex Sans" pitchFamily="34" charset="-120"/>
              </a:rPr>
              <a:t>6</a:t>
            </a:r>
            <a:r>
              <a:rPr lang="en-US" sz="1400" dirty="0">
                <a:solidFill>
                  <a:srgbClr val="F3F0E8"/>
                </a:solidFill>
                <a:latin typeface="IBM Plex Sans" pitchFamily="34" charset="0"/>
                <a:ea typeface="IBM Plex Sans" pitchFamily="34" charset="-122"/>
                <a:cs typeface="IBM Plex Sans" pitchFamily="34" charset="-120"/>
              </a:rPr>
              <a:t> Collections and streams</a:t>
            </a:r>
            <a:endParaRPr lang="en-US" sz="1400" dirty="0"/>
          </a:p>
        </p:txBody>
      </p:sp>
      <p:sp>
        <p:nvSpPr>
          <p:cNvPr id="11" name="Text 9"/>
          <p:cNvSpPr/>
          <p:nvPr/>
        </p:nvSpPr>
        <p:spPr>
          <a:xfrm>
            <a:off x="812800" y="446405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F5B73B"/>
                </a:solidFill>
                <a:latin typeface="IBM Plex Sans" pitchFamily="34" charset="0"/>
                <a:ea typeface="IBM Plex Sans" pitchFamily="34" charset="-122"/>
                <a:cs typeface="IBM Plex Sans" pitchFamily="34" charset="-120"/>
              </a:rPr>
              <a:t>Possible extensions: a graphical display, a database, and live status updates.</a:t>
            </a:r>
            <a:endParaRPr lang="en-US" sz="1500" dirty="0"/>
          </a:p>
        </p:txBody>
      </p:sp>
      <p:sp>
        <p:nvSpPr>
          <p:cNvPr id="12" name="Text 10"/>
          <p:cNvSpPr/>
          <p:nvPr/>
        </p:nvSpPr>
        <p:spPr>
          <a:xfrm>
            <a:off x="812800" y="6238242"/>
            <a:ext cx="65405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Airport Flight Board and Scheduler</a:t>
            </a:r>
            <a:endParaRPr lang="en-US" sz="1200" dirty="0"/>
          </a:p>
        </p:txBody>
      </p:sp>
      <p:sp>
        <p:nvSpPr>
          <p:cNvPr id="13" name="Text 11"/>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FA0B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Screenshot</a:t>
            </a:r>
            <a:br>
              <a:rPr lang="en-US"/>
            </a:br>
            <a:endParaRPr lang="en-US"/>
          </a:p>
        </p:txBody>
      </p:sp>
      <p:sp>
        <p:nvSpPr>
          <p:cNvPr id="3" name="Text Placeholder 2"/>
          <p:cNvSpPr/>
          <p:nvPr>
            <p:ph type="body" idx="101"/>
          </p:nvPr>
        </p:nvSpPr>
        <p:spPr/>
        <p:txBody>
          <a:bodyPr/>
          <a:p>
            <a:endParaRPr lang="en-US"/>
          </a:p>
        </p:txBody>
      </p:sp>
      <p:pic>
        <p:nvPicPr>
          <p:cNvPr id="4" name="Picture 3" descr="Screenshot 2026-10-16 151533"/>
          <p:cNvPicPr>
            <a:picLocks noChangeAspect="1"/>
          </p:cNvPicPr>
          <p:nvPr/>
        </p:nvPicPr>
        <p:blipFill>
          <a:blip r:embed="rId1"/>
          <a:stretch>
            <a:fillRect/>
          </a:stretch>
        </p:blipFill>
        <p:spPr>
          <a:xfrm>
            <a:off x="764540" y="1976120"/>
            <a:ext cx="5151755" cy="4069715"/>
          </a:xfrm>
          <a:prstGeom prst="rect">
            <a:avLst/>
          </a:prstGeom>
        </p:spPr>
      </p:pic>
      <p:pic>
        <p:nvPicPr>
          <p:cNvPr id="5" name="Picture 4" descr="Screenshot 2026-10-16 151940"/>
          <p:cNvPicPr>
            <a:picLocks noChangeAspect="1"/>
          </p:cNvPicPr>
          <p:nvPr/>
        </p:nvPicPr>
        <p:blipFill>
          <a:blip r:embed="rId2"/>
          <a:stretch>
            <a:fillRect/>
          </a:stretch>
        </p:blipFill>
        <p:spPr>
          <a:xfrm>
            <a:off x="6209665" y="2011045"/>
            <a:ext cx="5169535" cy="3981450"/>
          </a:xfrm>
          <a:prstGeom prst="rect">
            <a:avLst/>
          </a:prstGeom>
        </p:spPr>
      </p:pic>
    </p:spTree>
  </p:cSld>
  <p:clrMapOvr>
    <a:masterClrMapping/>
  </p:clrMapOvr>
</p:sld>
</file>

<file path=ppt/theme/theme1.xml><?xml version="1.0" encoding="utf-8"?>
<a:theme xmlns:a="http://schemas.openxmlformats.org/drawingml/2006/main" name="Airport Flight Board and Scheduler">
  <a:themeElements>
    <a:clrScheme name="Airport Flight Board and Scheduler">
      <a:dk1>
        <a:srgbClr val="14213D"/>
      </a:dk1>
      <a:lt1>
        <a:srgbClr val="F3F0E8"/>
      </a:lt1>
      <a:dk2>
        <a:srgbClr val="4C5568"/>
      </a:dk2>
      <a:lt2>
        <a:srgbClr val="DDDBD7"/>
      </a:lt2>
      <a:accent1>
        <a:srgbClr val="F5B73B"/>
      </a:accent1>
      <a:accent2>
        <a:srgbClr val="8A5600"/>
      </a:accent2>
      <a:accent3>
        <a:srgbClr val="8FA0B8"/>
      </a:accent3>
      <a:accent4>
        <a:srgbClr val="3F4A5C"/>
      </a:accent4>
      <a:accent5>
        <a:srgbClr val="5B6577"/>
      </a:accent5>
      <a:accent6>
        <a:srgbClr val="B9C4D3"/>
      </a:accent6>
      <a:hlink>
        <a:srgbClr val="0563C1"/>
      </a:hlink>
      <a:folHlink>
        <a:srgbClr val="954F72"/>
      </a:folHlink>
    </a:clrScheme>
    <a:fontScheme name="Airport Flight Board and Scheduler">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irport Flight Board and Scheduler">
  <a:themeElements>
    <a:clrScheme name="Airport Flight Board and Scheduler">
      <a:dk1>
        <a:srgbClr val="14213D"/>
      </a:dk1>
      <a:lt1>
        <a:srgbClr val="F3F0E8"/>
      </a:lt1>
      <a:dk2>
        <a:srgbClr val="4C5568"/>
      </a:dk2>
      <a:lt2>
        <a:srgbClr val="DDDBD7"/>
      </a:lt2>
      <a:accent1>
        <a:srgbClr val="F5B73B"/>
      </a:accent1>
      <a:accent2>
        <a:srgbClr val="8A5600"/>
      </a:accent2>
      <a:accent3>
        <a:srgbClr val="8FA0B8"/>
      </a:accent3>
      <a:accent4>
        <a:srgbClr val="3F4A5C"/>
      </a:accent4>
      <a:accent5>
        <a:srgbClr val="5B6577"/>
      </a:accent5>
      <a:accent6>
        <a:srgbClr val="B9C4D3"/>
      </a:accent6>
      <a:hlink>
        <a:srgbClr val="0563C1"/>
      </a:hlink>
      <a:folHlink>
        <a:srgbClr val="954F72"/>
      </a:folHlink>
    </a:clrScheme>
    <a:fontScheme name="Airport Flight Board and Scheduler">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6221</Words>
  <Application>WPS Presentation</Application>
  <PresentationFormat>On-screen Show (16:9)</PresentationFormat>
  <Paragraphs>290</Paragraphs>
  <Slides>13</Slides>
  <Notes>12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Oswald</vt:lpstr>
      <vt:lpstr>Segoe Print</vt:lpstr>
      <vt:lpstr>Oswald</vt:lpstr>
      <vt:lpstr>Oswald</vt:lpstr>
      <vt:lpstr>MingLiU-ExtB</vt:lpstr>
      <vt:lpstr>IBM Plex Sans</vt:lpstr>
      <vt:lpstr>IBM Plex Sans</vt:lpstr>
      <vt:lpstr>IBM Plex Sans</vt:lpstr>
      <vt:lpstr>JetBrains Mono</vt:lpstr>
      <vt:lpstr>JetBrains Mono</vt:lpstr>
      <vt:lpstr>JetBrains Mono</vt:lpstr>
      <vt:lpstr>Microsoft YaHei</vt:lpstr>
      <vt:lpstr>Arial Unicode MS</vt:lpstr>
      <vt:lpstr>Airport Flight Board and Scheduler</vt:lpstr>
      <vt:lpstr>AIRPORT FLIGHT BOARD AND SCHEDULER</vt:lpstr>
      <vt:lpstr>ABSTRACT</vt:lpstr>
      <vt:lpstr>UNDERSTANDING THE PROBLEM STATEMENT</vt:lpstr>
      <vt:lpstr>ALGORITHMS AND FLOWCHARTS</vt:lpstr>
      <vt:lpstr>JAVA BASICS: DATA, INPUT, OPERATORS</vt:lpstr>
      <vt:lpstr>CONTROL FLOW, LOOPS AND ARRAYS</vt:lpstr>
      <vt:lpstr>OBJECT-ORIENTED DESIGN</vt:lpstr>
      <vt:lpstr>STATIC MEMBERS AND EXCEPTIONS</vt:lpstr>
      <vt:lpstr>STRINGS, SORTING AND FILE I/O</vt:lpstr>
      <vt:lpstr>COLLECTIONS AND GENERICS</vt:lpstr>
      <vt:lpstr>LAMBDAS AND STREAMS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Flight Board and Scheduler</dc:title>
  <dc:creator/>
  <cp:lastModifiedBy>DANDUGULA SOWMYA</cp:lastModifiedBy>
  <cp:revision>3</cp:revision>
  <dcterms:created xsi:type="dcterms:W3CDTF">2026-10-15T17:30:00Z</dcterms:created>
  <dcterms:modified xsi:type="dcterms:W3CDTF">2026-10-16T10:01:18Z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43A74CA91E8649C989F8ACB8A0216C9C_13</vt:lpwstr>
  </property>
</Properties>
</file>